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2" r:id="rId4"/>
  </p:sldMasterIdLst>
  <p:notesMasterIdLst>
    <p:notesMasterId r:id="rId33"/>
  </p:notesMasterIdLst>
  <p:handoutMasterIdLst>
    <p:handoutMasterId r:id="rId34"/>
  </p:handoutMasterIdLst>
  <p:sldIdLst>
    <p:sldId id="256" r:id="rId5"/>
    <p:sldId id="289" r:id="rId6"/>
    <p:sldId id="288" r:id="rId7"/>
    <p:sldId id="258" r:id="rId8"/>
    <p:sldId id="280" r:id="rId9"/>
    <p:sldId id="263" r:id="rId10"/>
    <p:sldId id="264" r:id="rId11"/>
    <p:sldId id="265" r:id="rId12"/>
    <p:sldId id="281" r:id="rId13"/>
    <p:sldId id="284" r:id="rId14"/>
    <p:sldId id="285" r:id="rId15"/>
    <p:sldId id="286" r:id="rId16"/>
    <p:sldId id="287" r:id="rId17"/>
    <p:sldId id="270" r:id="rId18"/>
    <p:sldId id="266" r:id="rId19"/>
    <p:sldId id="267" r:id="rId20"/>
    <p:sldId id="268" r:id="rId21"/>
    <p:sldId id="277" r:id="rId22"/>
    <p:sldId id="276" r:id="rId23"/>
    <p:sldId id="272" r:id="rId24"/>
    <p:sldId id="278" r:id="rId25"/>
    <p:sldId id="273" r:id="rId26"/>
    <p:sldId id="275" r:id="rId27"/>
    <p:sldId id="259" r:id="rId28"/>
    <p:sldId id="260" r:id="rId29"/>
    <p:sldId id="282" r:id="rId30"/>
    <p:sldId id="283" r:id="rId31"/>
    <p:sldId id="271"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9205"/>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552" autoAdjust="0"/>
  </p:normalViewPr>
  <p:slideViewPr>
    <p:cSldViewPr snapToGrid="0">
      <p:cViewPr varScale="1">
        <p:scale>
          <a:sx n="100" d="100"/>
          <a:sy n="100" d="100"/>
        </p:scale>
        <p:origin x="96" y="186"/>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8" d="100"/>
          <a:sy n="68" d="100"/>
        </p:scale>
        <p:origin x="3288" y="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E5AA53B-3EEE-4DE4-BB81-9044890C2946}" type="doc">
      <dgm:prSet loTypeId="urn:microsoft.com/office/officeart/2008/layout/VerticalCurvedList" loCatId="list" qsTypeId="urn:microsoft.com/office/officeart/2005/8/quickstyle/simple4" qsCatId="simple" csTypeId="urn:microsoft.com/office/officeart/2005/8/colors/accent2_2" csCatId="accent2" phldr="1"/>
      <dgm:spPr/>
      <dgm:t>
        <a:bodyPr/>
        <a:lstStyle/>
        <a:p>
          <a:endParaRPr lang="en-US"/>
        </a:p>
      </dgm:t>
    </dgm:pt>
    <dgm:pt modelId="{57806726-6E60-4ACC-9C1C-7DF9CC365A10}" type="pres">
      <dgm:prSet presAssocID="{7E5AA53B-3EEE-4DE4-BB81-9044890C2946}" presName="Name0" presStyleCnt="0">
        <dgm:presLayoutVars>
          <dgm:chMax val="7"/>
          <dgm:chPref val="7"/>
          <dgm:dir/>
        </dgm:presLayoutVars>
      </dgm:prSet>
      <dgm:spPr/>
    </dgm:pt>
    <dgm:pt modelId="{90561C55-3C6E-4D53-85E1-2C50BCDDA392}" type="pres">
      <dgm:prSet presAssocID="{7E5AA53B-3EEE-4DE4-BB81-9044890C2946}" presName="Name1" presStyleCnt="0"/>
      <dgm:spPr/>
    </dgm:pt>
    <dgm:pt modelId="{B6CD42EC-5AD4-4004-AE5B-47EDA668DAA8}" type="pres">
      <dgm:prSet presAssocID="{7E5AA53B-3EEE-4DE4-BB81-9044890C2946}" presName="cycle" presStyleCnt="0"/>
      <dgm:spPr/>
    </dgm:pt>
    <dgm:pt modelId="{963B8EE3-40CC-4A0A-B420-D0BF920973CE}" type="pres">
      <dgm:prSet presAssocID="{7E5AA53B-3EEE-4DE4-BB81-9044890C2946}" presName="srcNode" presStyleLbl="node1" presStyleIdx="0" presStyleCnt="0"/>
      <dgm:spPr/>
    </dgm:pt>
    <dgm:pt modelId="{D79B43FC-100B-4A0D-A4D5-0D2D04B99064}" type="pres">
      <dgm:prSet presAssocID="{7E5AA53B-3EEE-4DE4-BB81-9044890C2946}" presName="conn" presStyleLbl="parChTrans1D2" presStyleIdx="0" presStyleCnt="1"/>
      <dgm:spPr/>
    </dgm:pt>
    <dgm:pt modelId="{3CAD8DA1-8D53-445C-ACE8-D8449E4F0F55}" type="pres">
      <dgm:prSet presAssocID="{7E5AA53B-3EEE-4DE4-BB81-9044890C2946}" presName="extraNode" presStyleLbl="node1" presStyleIdx="0" presStyleCnt="0"/>
      <dgm:spPr/>
    </dgm:pt>
    <dgm:pt modelId="{429CABD1-4116-474B-81BF-735E2CA9DD00}" type="pres">
      <dgm:prSet presAssocID="{7E5AA53B-3EEE-4DE4-BB81-9044890C2946}" presName="dstNode" presStyleLbl="node1" presStyleIdx="0" presStyleCnt="0"/>
      <dgm:spPr/>
    </dgm:pt>
  </dgm:ptLst>
  <dgm:cxnLst>
    <dgm:cxn modelId="{4F65CC8F-B5A8-40BE-A32B-05862B543D6A}" type="presOf" srcId="{7E5AA53B-3EEE-4DE4-BB81-9044890C2946}" destId="{57806726-6E60-4ACC-9C1C-7DF9CC365A10}" srcOrd="0" destOrd="0" presId="urn:microsoft.com/office/officeart/2008/layout/VerticalCurvedList"/>
    <dgm:cxn modelId="{4E25B52E-70EF-4A0F-B410-0B49263AF380}" type="presParOf" srcId="{57806726-6E60-4ACC-9C1C-7DF9CC365A10}" destId="{90561C55-3C6E-4D53-85E1-2C50BCDDA392}" srcOrd="0" destOrd="0" presId="urn:microsoft.com/office/officeart/2008/layout/VerticalCurvedList"/>
    <dgm:cxn modelId="{2B3DD9E4-EC9C-4B92-B380-F89BF82E7CF3}" type="presParOf" srcId="{90561C55-3C6E-4D53-85E1-2C50BCDDA392}" destId="{B6CD42EC-5AD4-4004-AE5B-47EDA668DAA8}" srcOrd="0" destOrd="0" presId="urn:microsoft.com/office/officeart/2008/layout/VerticalCurvedList"/>
    <dgm:cxn modelId="{EA357085-80A4-4D1D-9BD2-56B1E9A721FB}" type="presParOf" srcId="{B6CD42EC-5AD4-4004-AE5B-47EDA668DAA8}" destId="{963B8EE3-40CC-4A0A-B420-D0BF920973CE}" srcOrd="0" destOrd="0" presId="urn:microsoft.com/office/officeart/2008/layout/VerticalCurvedList"/>
    <dgm:cxn modelId="{F175C6D0-411C-40FD-A19B-860D49F42061}" type="presParOf" srcId="{B6CD42EC-5AD4-4004-AE5B-47EDA668DAA8}" destId="{D79B43FC-100B-4A0D-A4D5-0D2D04B99064}" srcOrd="1" destOrd="0" presId="urn:microsoft.com/office/officeart/2008/layout/VerticalCurvedList"/>
    <dgm:cxn modelId="{794BB944-68C0-47A5-9792-652802EB36AC}" type="presParOf" srcId="{B6CD42EC-5AD4-4004-AE5B-47EDA668DAA8}" destId="{3CAD8DA1-8D53-445C-ACE8-D8449E4F0F55}" srcOrd="2" destOrd="0" presId="urn:microsoft.com/office/officeart/2008/layout/VerticalCurvedList"/>
    <dgm:cxn modelId="{B8CC75C4-3D1A-49E7-80D2-915668C1368C}" type="presParOf" srcId="{B6CD42EC-5AD4-4004-AE5B-47EDA668DAA8}" destId="{429CABD1-4116-474B-81BF-735E2CA9DD00}" srcOrd="3" destOrd="0" presId="urn:microsoft.com/office/officeart/2008/layout/VerticalCurv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E5AA53B-3EEE-4DE4-BB81-9044890C2946}" type="doc">
      <dgm:prSet loTypeId="urn:microsoft.com/office/officeart/2008/layout/VerticalCurvedList" loCatId="list" qsTypeId="urn:microsoft.com/office/officeart/2005/8/quickstyle/simple4" qsCatId="simple" csTypeId="urn:microsoft.com/office/officeart/2005/8/colors/accent2_2" csCatId="accent2" phldr="1"/>
      <dgm:spPr/>
      <dgm:t>
        <a:bodyPr/>
        <a:lstStyle/>
        <a:p>
          <a:endParaRPr lang="en-US"/>
        </a:p>
      </dgm:t>
    </dgm:pt>
    <dgm:pt modelId="{57806726-6E60-4ACC-9C1C-7DF9CC365A10}" type="pres">
      <dgm:prSet presAssocID="{7E5AA53B-3EEE-4DE4-BB81-9044890C2946}" presName="Name0" presStyleCnt="0">
        <dgm:presLayoutVars>
          <dgm:chMax val="7"/>
          <dgm:chPref val="7"/>
          <dgm:dir/>
        </dgm:presLayoutVars>
      </dgm:prSet>
      <dgm:spPr/>
    </dgm:pt>
    <dgm:pt modelId="{90561C55-3C6E-4D53-85E1-2C50BCDDA392}" type="pres">
      <dgm:prSet presAssocID="{7E5AA53B-3EEE-4DE4-BB81-9044890C2946}" presName="Name1" presStyleCnt="0"/>
      <dgm:spPr/>
    </dgm:pt>
    <dgm:pt modelId="{B6CD42EC-5AD4-4004-AE5B-47EDA668DAA8}" type="pres">
      <dgm:prSet presAssocID="{7E5AA53B-3EEE-4DE4-BB81-9044890C2946}" presName="cycle" presStyleCnt="0"/>
      <dgm:spPr/>
    </dgm:pt>
    <dgm:pt modelId="{963B8EE3-40CC-4A0A-B420-D0BF920973CE}" type="pres">
      <dgm:prSet presAssocID="{7E5AA53B-3EEE-4DE4-BB81-9044890C2946}" presName="srcNode" presStyleLbl="node1" presStyleIdx="0" presStyleCnt="0"/>
      <dgm:spPr/>
    </dgm:pt>
    <dgm:pt modelId="{D79B43FC-100B-4A0D-A4D5-0D2D04B99064}" type="pres">
      <dgm:prSet presAssocID="{7E5AA53B-3EEE-4DE4-BB81-9044890C2946}" presName="conn" presStyleLbl="parChTrans1D2" presStyleIdx="0" presStyleCnt="1"/>
      <dgm:spPr/>
    </dgm:pt>
    <dgm:pt modelId="{3CAD8DA1-8D53-445C-ACE8-D8449E4F0F55}" type="pres">
      <dgm:prSet presAssocID="{7E5AA53B-3EEE-4DE4-BB81-9044890C2946}" presName="extraNode" presStyleLbl="node1" presStyleIdx="0" presStyleCnt="0"/>
      <dgm:spPr/>
    </dgm:pt>
    <dgm:pt modelId="{429CABD1-4116-474B-81BF-735E2CA9DD00}" type="pres">
      <dgm:prSet presAssocID="{7E5AA53B-3EEE-4DE4-BB81-9044890C2946}" presName="dstNode" presStyleLbl="node1" presStyleIdx="0" presStyleCnt="0"/>
      <dgm:spPr/>
    </dgm:pt>
  </dgm:ptLst>
  <dgm:cxnLst>
    <dgm:cxn modelId="{4F65CC8F-B5A8-40BE-A32B-05862B543D6A}" type="presOf" srcId="{7E5AA53B-3EEE-4DE4-BB81-9044890C2946}" destId="{57806726-6E60-4ACC-9C1C-7DF9CC365A10}" srcOrd="0" destOrd="0" presId="urn:microsoft.com/office/officeart/2008/layout/VerticalCurvedList"/>
    <dgm:cxn modelId="{4E25B52E-70EF-4A0F-B410-0B49263AF380}" type="presParOf" srcId="{57806726-6E60-4ACC-9C1C-7DF9CC365A10}" destId="{90561C55-3C6E-4D53-85E1-2C50BCDDA392}" srcOrd="0" destOrd="0" presId="urn:microsoft.com/office/officeart/2008/layout/VerticalCurvedList"/>
    <dgm:cxn modelId="{2B3DD9E4-EC9C-4B92-B380-F89BF82E7CF3}" type="presParOf" srcId="{90561C55-3C6E-4D53-85E1-2C50BCDDA392}" destId="{B6CD42EC-5AD4-4004-AE5B-47EDA668DAA8}" srcOrd="0" destOrd="0" presId="urn:microsoft.com/office/officeart/2008/layout/VerticalCurvedList"/>
    <dgm:cxn modelId="{EA357085-80A4-4D1D-9BD2-56B1E9A721FB}" type="presParOf" srcId="{B6CD42EC-5AD4-4004-AE5B-47EDA668DAA8}" destId="{963B8EE3-40CC-4A0A-B420-D0BF920973CE}" srcOrd="0" destOrd="0" presId="urn:microsoft.com/office/officeart/2008/layout/VerticalCurvedList"/>
    <dgm:cxn modelId="{F175C6D0-411C-40FD-A19B-860D49F42061}" type="presParOf" srcId="{B6CD42EC-5AD4-4004-AE5B-47EDA668DAA8}" destId="{D79B43FC-100B-4A0D-A4D5-0D2D04B99064}" srcOrd="1" destOrd="0" presId="urn:microsoft.com/office/officeart/2008/layout/VerticalCurvedList"/>
    <dgm:cxn modelId="{794BB944-68C0-47A5-9792-652802EB36AC}" type="presParOf" srcId="{B6CD42EC-5AD4-4004-AE5B-47EDA668DAA8}" destId="{3CAD8DA1-8D53-445C-ACE8-D8449E4F0F55}" srcOrd="2" destOrd="0" presId="urn:microsoft.com/office/officeart/2008/layout/VerticalCurvedList"/>
    <dgm:cxn modelId="{B8CC75C4-3D1A-49E7-80D2-915668C1368C}" type="presParOf" srcId="{B6CD42EC-5AD4-4004-AE5B-47EDA668DAA8}" destId="{429CABD1-4116-474B-81BF-735E2CA9DD00}" srcOrd="3" destOrd="0" presId="urn:microsoft.com/office/officeart/2008/layout/VerticalCurv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F81CEA5-62FD-4C83-BDE3-91DFB9827D8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3FA1CBFD-6AD0-48C4-B91B-58830F6F4C3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869721-F543-4A6C-BF9D-65D7CC540427}" type="datetimeFigureOut">
              <a:rPr lang="en-US" smtClean="0"/>
              <a:t>4/13/2026</a:t>
            </a:fld>
            <a:endParaRPr lang="en-US" dirty="0"/>
          </a:p>
        </p:txBody>
      </p:sp>
      <p:sp>
        <p:nvSpPr>
          <p:cNvPr id="4" name="Footer Placeholder 3">
            <a:extLst>
              <a:ext uri="{FF2B5EF4-FFF2-40B4-BE49-F238E27FC236}">
                <a16:creationId xmlns:a16="http://schemas.microsoft.com/office/drawing/2014/main" id="{A9E55D22-46A3-4B8C-AD40-252FE7896C3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E70DCEF-9071-4B17-801B-37B4465C8E1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90168E-626C-4E60-93C0-A00D25609468}" type="slidenum">
              <a:rPr lang="en-US" smtClean="0"/>
              <a:t>‹#›</a:t>
            </a:fld>
            <a:endParaRPr lang="en-US" dirty="0"/>
          </a:p>
        </p:txBody>
      </p:sp>
    </p:spTree>
    <p:extLst>
      <p:ext uri="{BB962C8B-B14F-4D97-AF65-F5344CB8AC3E}">
        <p14:creationId xmlns:p14="http://schemas.microsoft.com/office/powerpoint/2010/main" val="37493477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32326A-4C88-4AFB-AA5B-5919D81DFF5B}" type="datetimeFigureOut">
              <a:rPr lang="en-US" smtClean="0"/>
              <a:t>4/13/2026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B3AB32-59DF-41F1-9618-EDFBF5049629}" type="slidenum">
              <a:rPr lang="en-US" smtClean="0"/>
              <a:t>‹#›</a:t>
            </a:fld>
            <a:endParaRPr lang="en-US" dirty="0"/>
          </a:p>
        </p:txBody>
      </p:sp>
    </p:spTree>
    <p:extLst>
      <p:ext uri="{BB962C8B-B14F-4D97-AF65-F5344CB8AC3E}">
        <p14:creationId xmlns:p14="http://schemas.microsoft.com/office/powerpoint/2010/main" val="36618056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1</a:t>
            </a:fld>
            <a:endParaRPr lang="en-US" dirty="0"/>
          </a:p>
        </p:txBody>
      </p:sp>
    </p:spTree>
    <p:extLst>
      <p:ext uri="{BB962C8B-B14F-4D97-AF65-F5344CB8AC3E}">
        <p14:creationId xmlns:p14="http://schemas.microsoft.com/office/powerpoint/2010/main" val="13900470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D0024-0379-406D-7B70-476F1B22B0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C8C022-F3E1-36D0-E798-41B0E06F18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3A416F-2056-DFB6-170D-B51464DEA4A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7D6107C-4938-D176-D004-4480AB005FFC}"/>
              </a:ext>
            </a:extLst>
          </p:cNvPr>
          <p:cNvSpPr>
            <a:spLocks noGrp="1"/>
          </p:cNvSpPr>
          <p:nvPr>
            <p:ph type="sldNum" sz="quarter" idx="5"/>
          </p:nvPr>
        </p:nvSpPr>
        <p:spPr/>
        <p:txBody>
          <a:bodyPr/>
          <a:lstStyle/>
          <a:p>
            <a:fld id="{C6B3AB32-59DF-41F1-9618-EDFBF5049629}" type="slidenum">
              <a:rPr lang="en-US" smtClean="0"/>
              <a:t>6</a:t>
            </a:fld>
            <a:endParaRPr lang="en-US" dirty="0"/>
          </a:p>
        </p:txBody>
      </p:sp>
    </p:spTree>
    <p:extLst>
      <p:ext uri="{BB962C8B-B14F-4D97-AF65-F5344CB8AC3E}">
        <p14:creationId xmlns:p14="http://schemas.microsoft.com/office/powerpoint/2010/main" val="5694285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CB2B5B-C452-06FC-DAD1-646C4CFE32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E56975-96C0-2E5E-B16A-35EC83B53E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FE7829-6435-26BF-3B61-79572CCD90F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A19F520-199A-947D-25FA-47026B82C073}"/>
              </a:ext>
            </a:extLst>
          </p:cNvPr>
          <p:cNvSpPr>
            <a:spLocks noGrp="1"/>
          </p:cNvSpPr>
          <p:nvPr>
            <p:ph type="sldNum" sz="quarter" idx="5"/>
          </p:nvPr>
        </p:nvSpPr>
        <p:spPr/>
        <p:txBody>
          <a:bodyPr/>
          <a:lstStyle/>
          <a:p>
            <a:fld id="{C6B3AB32-59DF-41F1-9618-EDFBF5049629}" type="slidenum">
              <a:rPr lang="en-US" smtClean="0"/>
              <a:t>7</a:t>
            </a:fld>
            <a:endParaRPr lang="en-US" dirty="0"/>
          </a:p>
        </p:txBody>
      </p:sp>
    </p:spTree>
    <p:extLst>
      <p:ext uri="{BB962C8B-B14F-4D97-AF65-F5344CB8AC3E}">
        <p14:creationId xmlns:p14="http://schemas.microsoft.com/office/powerpoint/2010/main" val="23536104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EAB52-5E91-34FB-8E5A-99443E7A96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B42D38-159F-D244-DC92-5265B27AF8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42C678-D8A9-9F92-F68A-B82ED449ACD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F8D2DC2-597B-6BB1-869A-937AD23F8992}"/>
              </a:ext>
            </a:extLst>
          </p:cNvPr>
          <p:cNvSpPr>
            <a:spLocks noGrp="1"/>
          </p:cNvSpPr>
          <p:nvPr>
            <p:ph type="sldNum" sz="quarter" idx="5"/>
          </p:nvPr>
        </p:nvSpPr>
        <p:spPr/>
        <p:txBody>
          <a:bodyPr/>
          <a:lstStyle/>
          <a:p>
            <a:fld id="{C6B3AB32-59DF-41F1-9618-EDFBF5049629}" type="slidenum">
              <a:rPr lang="en-US" smtClean="0"/>
              <a:t>8</a:t>
            </a:fld>
            <a:endParaRPr lang="en-US" dirty="0"/>
          </a:p>
        </p:txBody>
      </p:sp>
    </p:spTree>
    <p:extLst>
      <p:ext uri="{BB962C8B-B14F-4D97-AF65-F5344CB8AC3E}">
        <p14:creationId xmlns:p14="http://schemas.microsoft.com/office/powerpoint/2010/main" val="31731280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F2504-2668-BE0F-470E-83076F8F56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A0BFC0-A1A7-087D-566B-ADBA6A7030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E9A9B3-8F5B-048E-9BB3-6F2ECC449F8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D663FF6-B5AC-94E5-27D4-F2A1D39C7D7E}"/>
              </a:ext>
            </a:extLst>
          </p:cNvPr>
          <p:cNvSpPr>
            <a:spLocks noGrp="1"/>
          </p:cNvSpPr>
          <p:nvPr>
            <p:ph type="sldNum" sz="quarter" idx="5"/>
          </p:nvPr>
        </p:nvSpPr>
        <p:spPr/>
        <p:txBody>
          <a:bodyPr/>
          <a:lstStyle/>
          <a:p>
            <a:fld id="{C6B3AB32-59DF-41F1-9618-EDFBF5049629}" type="slidenum">
              <a:rPr lang="en-US" smtClean="0"/>
              <a:t>9</a:t>
            </a:fld>
            <a:endParaRPr lang="en-US" dirty="0"/>
          </a:p>
        </p:txBody>
      </p:sp>
    </p:spTree>
    <p:extLst>
      <p:ext uri="{BB962C8B-B14F-4D97-AF65-F5344CB8AC3E}">
        <p14:creationId xmlns:p14="http://schemas.microsoft.com/office/powerpoint/2010/main" val="18978051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B76EC5-5105-CADD-F6B2-8BC9408104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40160B-F2F1-5314-D73E-6812F44EC8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461865-E1F3-023E-5923-F3FDB0D987E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AA3EE49-5F04-9018-DD08-729E34D31FA9}"/>
              </a:ext>
            </a:extLst>
          </p:cNvPr>
          <p:cNvSpPr>
            <a:spLocks noGrp="1"/>
          </p:cNvSpPr>
          <p:nvPr>
            <p:ph type="sldNum" sz="quarter" idx="5"/>
          </p:nvPr>
        </p:nvSpPr>
        <p:spPr/>
        <p:txBody>
          <a:bodyPr/>
          <a:lstStyle/>
          <a:p>
            <a:fld id="{C6B3AB32-59DF-41F1-9618-EDFBF5049629}" type="slidenum">
              <a:rPr lang="en-US" smtClean="0"/>
              <a:t>10</a:t>
            </a:fld>
            <a:endParaRPr lang="en-US" dirty="0"/>
          </a:p>
        </p:txBody>
      </p:sp>
    </p:spTree>
    <p:extLst>
      <p:ext uri="{BB962C8B-B14F-4D97-AF65-F5344CB8AC3E}">
        <p14:creationId xmlns:p14="http://schemas.microsoft.com/office/powerpoint/2010/main" val="36991848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2ECE1D-FD49-207B-EEE1-F123A7CE0E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501721-88A8-CE88-EEA7-7DB072FF42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0CF65F-A743-2734-0A03-E9FD76ED26F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87E1F36-DA1F-5092-65A6-7F6F2439A09C}"/>
              </a:ext>
            </a:extLst>
          </p:cNvPr>
          <p:cNvSpPr>
            <a:spLocks noGrp="1"/>
          </p:cNvSpPr>
          <p:nvPr>
            <p:ph type="sldNum" sz="quarter" idx="5"/>
          </p:nvPr>
        </p:nvSpPr>
        <p:spPr/>
        <p:txBody>
          <a:bodyPr/>
          <a:lstStyle/>
          <a:p>
            <a:fld id="{C6B3AB32-59DF-41F1-9618-EDFBF5049629}" type="slidenum">
              <a:rPr lang="en-US" smtClean="0"/>
              <a:t>11</a:t>
            </a:fld>
            <a:endParaRPr lang="en-US" dirty="0"/>
          </a:p>
        </p:txBody>
      </p:sp>
    </p:spTree>
    <p:extLst>
      <p:ext uri="{BB962C8B-B14F-4D97-AF65-F5344CB8AC3E}">
        <p14:creationId xmlns:p14="http://schemas.microsoft.com/office/powerpoint/2010/main" val="38633975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E6EBBE-35C7-5A76-601F-318AA4858A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10D89D-DF83-6BD0-21F9-4F65894BE0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EA07D7-94F4-92AB-D96A-A7DC30704EA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1762FF4-5620-A94A-4820-9BCA078FF72B}"/>
              </a:ext>
            </a:extLst>
          </p:cNvPr>
          <p:cNvSpPr>
            <a:spLocks noGrp="1"/>
          </p:cNvSpPr>
          <p:nvPr>
            <p:ph type="sldNum" sz="quarter" idx="5"/>
          </p:nvPr>
        </p:nvSpPr>
        <p:spPr/>
        <p:txBody>
          <a:bodyPr/>
          <a:lstStyle/>
          <a:p>
            <a:fld id="{C6B3AB32-59DF-41F1-9618-EDFBF5049629}" type="slidenum">
              <a:rPr lang="en-US" smtClean="0"/>
              <a:t>12</a:t>
            </a:fld>
            <a:endParaRPr lang="en-US" dirty="0"/>
          </a:p>
        </p:txBody>
      </p:sp>
    </p:spTree>
    <p:extLst>
      <p:ext uri="{BB962C8B-B14F-4D97-AF65-F5344CB8AC3E}">
        <p14:creationId xmlns:p14="http://schemas.microsoft.com/office/powerpoint/2010/main" val="40792981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5647EC-609A-F326-BBB0-AA0E210C5E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ADACD6-3CDF-C1CC-8B4B-53A5CBABED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3C20B8-490A-4CA0-9795-DD1BE36F9F9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BFF5375-F5BA-83A7-AEF5-6497DA5BF5EC}"/>
              </a:ext>
            </a:extLst>
          </p:cNvPr>
          <p:cNvSpPr>
            <a:spLocks noGrp="1"/>
          </p:cNvSpPr>
          <p:nvPr>
            <p:ph type="sldNum" sz="quarter" idx="5"/>
          </p:nvPr>
        </p:nvSpPr>
        <p:spPr/>
        <p:txBody>
          <a:bodyPr/>
          <a:lstStyle/>
          <a:p>
            <a:fld id="{C6B3AB32-59DF-41F1-9618-EDFBF5049629}" type="slidenum">
              <a:rPr lang="en-US" smtClean="0"/>
              <a:t>13</a:t>
            </a:fld>
            <a:endParaRPr lang="en-US" dirty="0"/>
          </a:p>
        </p:txBody>
      </p:sp>
    </p:spTree>
    <p:extLst>
      <p:ext uri="{BB962C8B-B14F-4D97-AF65-F5344CB8AC3E}">
        <p14:creationId xmlns:p14="http://schemas.microsoft.com/office/powerpoint/2010/main" val="40812270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BC7ADB-7D35-B480-B91E-1AE9B58E1F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269653-C0F3-6C38-8225-EE9F82DB00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431D79-237E-8CB0-64A2-8FD32138A09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4369354-CEFF-63BE-37AD-DD3952285C49}"/>
              </a:ext>
            </a:extLst>
          </p:cNvPr>
          <p:cNvSpPr>
            <a:spLocks noGrp="1"/>
          </p:cNvSpPr>
          <p:nvPr>
            <p:ph type="sldNum" sz="quarter" idx="5"/>
          </p:nvPr>
        </p:nvSpPr>
        <p:spPr/>
        <p:txBody>
          <a:bodyPr/>
          <a:lstStyle/>
          <a:p>
            <a:fld id="{C6B3AB32-59DF-41F1-9618-EDFBF5049629}" type="slidenum">
              <a:rPr lang="en-US" smtClean="0"/>
              <a:t>14</a:t>
            </a:fld>
            <a:endParaRPr lang="en-US" dirty="0"/>
          </a:p>
        </p:txBody>
      </p:sp>
    </p:spTree>
    <p:extLst>
      <p:ext uri="{BB962C8B-B14F-4D97-AF65-F5344CB8AC3E}">
        <p14:creationId xmlns:p14="http://schemas.microsoft.com/office/powerpoint/2010/main" val="35418515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22CF3-F922-BB93-7D27-33CEA2BCC9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B50111-6D64-50A5-571B-2F72316A4A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09D0D3-D11E-7D33-2539-3C42ED30A28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B1BE1BF-F75F-9558-6D74-06EFC4D5059A}"/>
              </a:ext>
            </a:extLst>
          </p:cNvPr>
          <p:cNvSpPr>
            <a:spLocks noGrp="1"/>
          </p:cNvSpPr>
          <p:nvPr>
            <p:ph type="sldNum" sz="quarter" idx="5"/>
          </p:nvPr>
        </p:nvSpPr>
        <p:spPr/>
        <p:txBody>
          <a:bodyPr/>
          <a:lstStyle/>
          <a:p>
            <a:fld id="{C6B3AB32-59DF-41F1-9618-EDFBF5049629}" type="slidenum">
              <a:rPr lang="en-US" smtClean="0"/>
              <a:t>15</a:t>
            </a:fld>
            <a:endParaRPr lang="en-US" dirty="0"/>
          </a:p>
        </p:txBody>
      </p:sp>
    </p:spTree>
    <p:extLst>
      <p:ext uri="{BB962C8B-B14F-4D97-AF65-F5344CB8AC3E}">
        <p14:creationId xmlns:p14="http://schemas.microsoft.com/office/powerpoint/2010/main" val="1673737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1A1CF-B4E2-5773-58B1-50C78EB324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79FBAD-BF72-D506-68F5-A606E60DF5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8F8460-8C6A-D9A2-F5C8-A2C46808E9A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4F57692-A90A-B60D-46B1-6020C571D3DD}"/>
              </a:ext>
            </a:extLst>
          </p:cNvPr>
          <p:cNvSpPr>
            <a:spLocks noGrp="1"/>
          </p:cNvSpPr>
          <p:nvPr>
            <p:ph type="sldNum" sz="quarter" idx="5"/>
          </p:nvPr>
        </p:nvSpPr>
        <p:spPr/>
        <p:txBody>
          <a:bodyPr/>
          <a:lstStyle/>
          <a:p>
            <a:fld id="{C6B3AB32-59DF-41F1-9618-EDFBF5049629}" type="slidenum">
              <a:rPr lang="en-US" smtClean="0"/>
              <a:t>16</a:t>
            </a:fld>
            <a:endParaRPr lang="en-US" dirty="0"/>
          </a:p>
        </p:txBody>
      </p:sp>
    </p:spTree>
    <p:extLst>
      <p:ext uri="{BB962C8B-B14F-4D97-AF65-F5344CB8AC3E}">
        <p14:creationId xmlns:p14="http://schemas.microsoft.com/office/powerpoint/2010/main" val="28426871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001E6-8C26-07C7-6864-399D320E85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92699A-06E8-1F79-259B-75FC613F31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43B947-7246-71B3-7FB7-BA0B75D0729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BC923CC-1913-3960-6437-B0DCA1F19170}"/>
              </a:ext>
            </a:extLst>
          </p:cNvPr>
          <p:cNvSpPr>
            <a:spLocks noGrp="1"/>
          </p:cNvSpPr>
          <p:nvPr>
            <p:ph type="sldNum" sz="quarter" idx="5"/>
          </p:nvPr>
        </p:nvSpPr>
        <p:spPr/>
        <p:txBody>
          <a:bodyPr/>
          <a:lstStyle/>
          <a:p>
            <a:fld id="{C6B3AB32-59DF-41F1-9618-EDFBF5049629}" type="slidenum">
              <a:rPr lang="en-US" smtClean="0"/>
              <a:t>17</a:t>
            </a:fld>
            <a:endParaRPr lang="en-US" dirty="0"/>
          </a:p>
        </p:txBody>
      </p:sp>
    </p:spTree>
    <p:extLst>
      <p:ext uri="{BB962C8B-B14F-4D97-AF65-F5344CB8AC3E}">
        <p14:creationId xmlns:p14="http://schemas.microsoft.com/office/powerpoint/2010/main" val="21371117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F8AB73-B590-728B-533F-E88FDD4C1B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7D8C11-9617-9504-C1EA-05C756373B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3076D9-9059-C14E-0614-887818F028F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FF606D4-12D4-E5CA-7DCF-7C0CFE05E98C}"/>
              </a:ext>
            </a:extLst>
          </p:cNvPr>
          <p:cNvSpPr>
            <a:spLocks noGrp="1"/>
          </p:cNvSpPr>
          <p:nvPr>
            <p:ph type="sldNum" sz="quarter" idx="5"/>
          </p:nvPr>
        </p:nvSpPr>
        <p:spPr/>
        <p:txBody>
          <a:bodyPr/>
          <a:lstStyle/>
          <a:p>
            <a:fld id="{C6B3AB32-59DF-41F1-9618-EDFBF5049629}" type="slidenum">
              <a:rPr lang="en-US" smtClean="0"/>
              <a:t>18</a:t>
            </a:fld>
            <a:endParaRPr lang="en-US" dirty="0"/>
          </a:p>
        </p:txBody>
      </p:sp>
    </p:spTree>
    <p:extLst>
      <p:ext uri="{BB962C8B-B14F-4D97-AF65-F5344CB8AC3E}">
        <p14:creationId xmlns:p14="http://schemas.microsoft.com/office/powerpoint/2010/main" val="31813751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271AA7-8EEB-5938-22D5-1F7B0E2CD6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39C95A-B91E-93F8-ECDF-F23F7A841A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131189-0730-B7EF-4D6A-72FA2D823B2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67DCDE4-C387-EF01-F6AB-8D31B7D8F66A}"/>
              </a:ext>
            </a:extLst>
          </p:cNvPr>
          <p:cNvSpPr>
            <a:spLocks noGrp="1"/>
          </p:cNvSpPr>
          <p:nvPr>
            <p:ph type="sldNum" sz="quarter" idx="5"/>
          </p:nvPr>
        </p:nvSpPr>
        <p:spPr/>
        <p:txBody>
          <a:bodyPr/>
          <a:lstStyle/>
          <a:p>
            <a:fld id="{C6B3AB32-59DF-41F1-9618-EDFBF5049629}" type="slidenum">
              <a:rPr lang="en-US" smtClean="0"/>
              <a:t>19</a:t>
            </a:fld>
            <a:endParaRPr lang="en-US" dirty="0"/>
          </a:p>
        </p:txBody>
      </p:sp>
    </p:spTree>
    <p:extLst>
      <p:ext uri="{BB962C8B-B14F-4D97-AF65-F5344CB8AC3E}">
        <p14:creationId xmlns:p14="http://schemas.microsoft.com/office/powerpoint/2010/main" val="31765925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7FE2B5-183C-8311-5BAA-1BFDC5A50A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1E0F1F-5D8E-2A23-2FED-27F6257DE3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64A58-F79D-3091-1A5D-CD3879619AB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8E2F852-52B0-DFB7-7DB1-5C210E7A8952}"/>
              </a:ext>
            </a:extLst>
          </p:cNvPr>
          <p:cNvSpPr>
            <a:spLocks noGrp="1"/>
          </p:cNvSpPr>
          <p:nvPr>
            <p:ph type="sldNum" sz="quarter" idx="5"/>
          </p:nvPr>
        </p:nvSpPr>
        <p:spPr/>
        <p:txBody>
          <a:bodyPr/>
          <a:lstStyle/>
          <a:p>
            <a:fld id="{C6B3AB32-59DF-41F1-9618-EDFBF5049629}" type="slidenum">
              <a:rPr lang="en-US" smtClean="0"/>
              <a:t>20</a:t>
            </a:fld>
            <a:endParaRPr lang="en-US" dirty="0"/>
          </a:p>
        </p:txBody>
      </p:sp>
    </p:spTree>
    <p:extLst>
      <p:ext uri="{BB962C8B-B14F-4D97-AF65-F5344CB8AC3E}">
        <p14:creationId xmlns:p14="http://schemas.microsoft.com/office/powerpoint/2010/main" val="3408418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17C4E2-8A9B-62D4-0B36-9CC2C9BFED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A4A85C-766B-4C48-F2AD-C4B20336D4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30D951-F283-CDB8-0A04-FC1A7AE6464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5ADFFDC-3A49-B843-ECD7-3E1A0E1C4482}"/>
              </a:ext>
            </a:extLst>
          </p:cNvPr>
          <p:cNvSpPr>
            <a:spLocks noGrp="1"/>
          </p:cNvSpPr>
          <p:nvPr>
            <p:ph type="sldNum" sz="quarter" idx="5"/>
          </p:nvPr>
        </p:nvSpPr>
        <p:spPr/>
        <p:txBody>
          <a:bodyPr/>
          <a:lstStyle/>
          <a:p>
            <a:fld id="{C6B3AB32-59DF-41F1-9618-EDFBF5049629}" type="slidenum">
              <a:rPr lang="en-US" smtClean="0"/>
              <a:t>21</a:t>
            </a:fld>
            <a:endParaRPr lang="en-US" dirty="0"/>
          </a:p>
        </p:txBody>
      </p:sp>
    </p:spTree>
    <p:extLst>
      <p:ext uri="{BB962C8B-B14F-4D97-AF65-F5344CB8AC3E}">
        <p14:creationId xmlns:p14="http://schemas.microsoft.com/office/powerpoint/2010/main" val="6831824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B80DC7-D8AD-80EC-7FFA-8FCD7B900C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CFA546-4B1E-FAB4-0074-33791809AA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1F0D4C-30D5-105D-D68A-E8582DA100F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657A115-650C-1461-2A66-CBB4A0C6FF96}"/>
              </a:ext>
            </a:extLst>
          </p:cNvPr>
          <p:cNvSpPr>
            <a:spLocks noGrp="1"/>
          </p:cNvSpPr>
          <p:nvPr>
            <p:ph type="sldNum" sz="quarter" idx="5"/>
          </p:nvPr>
        </p:nvSpPr>
        <p:spPr/>
        <p:txBody>
          <a:bodyPr/>
          <a:lstStyle/>
          <a:p>
            <a:fld id="{C6B3AB32-59DF-41F1-9618-EDFBF5049629}" type="slidenum">
              <a:rPr lang="en-US" smtClean="0"/>
              <a:t>22</a:t>
            </a:fld>
            <a:endParaRPr lang="en-US" dirty="0"/>
          </a:p>
        </p:txBody>
      </p:sp>
    </p:spTree>
    <p:extLst>
      <p:ext uri="{BB962C8B-B14F-4D97-AF65-F5344CB8AC3E}">
        <p14:creationId xmlns:p14="http://schemas.microsoft.com/office/powerpoint/2010/main" val="27618075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59148F-7244-F4B8-1A36-1B5572BFA9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912896-B7A6-8055-C6A9-E9112EF4C3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51667A-26BA-78AF-4590-5F3594399CB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FF3DEC3-3B5D-9DE3-1F39-1796E774ECDB}"/>
              </a:ext>
            </a:extLst>
          </p:cNvPr>
          <p:cNvSpPr>
            <a:spLocks noGrp="1"/>
          </p:cNvSpPr>
          <p:nvPr>
            <p:ph type="sldNum" sz="quarter" idx="5"/>
          </p:nvPr>
        </p:nvSpPr>
        <p:spPr/>
        <p:txBody>
          <a:bodyPr/>
          <a:lstStyle/>
          <a:p>
            <a:fld id="{C6B3AB32-59DF-41F1-9618-EDFBF5049629}" type="slidenum">
              <a:rPr lang="en-US" smtClean="0"/>
              <a:t>23</a:t>
            </a:fld>
            <a:endParaRPr lang="en-US" dirty="0"/>
          </a:p>
        </p:txBody>
      </p:sp>
    </p:spTree>
    <p:extLst>
      <p:ext uri="{BB962C8B-B14F-4D97-AF65-F5344CB8AC3E}">
        <p14:creationId xmlns:p14="http://schemas.microsoft.com/office/powerpoint/2010/main" val="22005228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24</a:t>
            </a:fld>
            <a:endParaRPr lang="en-US" dirty="0"/>
          </a:p>
        </p:txBody>
      </p:sp>
    </p:spTree>
    <p:extLst>
      <p:ext uri="{BB962C8B-B14F-4D97-AF65-F5344CB8AC3E}">
        <p14:creationId xmlns:p14="http://schemas.microsoft.com/office/powerpoint/2010/main" val="35051155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25</a:t>
            </a:fld>
            <a:endParaRPr lang="en-US" dirty="0"/>
          </a:p>
        </p:txBody>
      </p:sp>
    </p:spTree>
    <p:extLst>
      <p:ext uri="{BB962C8B-B14F-4D97-AF65-F5344CB8AC3E}">
        <p14:creationId xmlns:p14="http://schemas.microsoft.com/office/powerpoint/2010/main" val="10467141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BA86F-3ADF-DDF1-1A9B-1ED40C769C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D5D83F-E35E-F00B-ACD7-E6ECC76EF6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BA4087-53A3-E2A0-1819-84CCD1EEF98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8E24B03-3452-E319-22E9-2D15733CFBD7}"/>
              </a:ext>
            </a:extLst>
          </p:cNvPr>
          <p:cNvSpPr>
            <a:spLocks noGrp="1"/>
          </p:cNvSpPr>
          <p:nvPr>
            <p:ph type="sldNum" sz="quarter" idx="5"/>
          </p:nvPr>
        </p:nvSpPr>
        <p:spPr/>
        <p:txBody>
          <a:bodyPr/>
          <a:lstStyle/>
          <a:p>
            <a:fld id="{C6B3AB32-59DF-41F1-9618-EDFBF5049629}" type="slidenum">
              <a:rPr lang="en-US" smtClean="0"/>
              <a:t>26</a:t>
            </a:fld>
            <a:endParaRPr lang="en-US" dirty="0"/>
          </a:p>
        </p:txBody>
      </p:sp>
    </p:spTree>
    <p:extLst>
      <p:ext uri="{BB962C8B-B14F-4D97-AF65-F5344CB8AC3E}">
        <p14:creationId xmlns:p14="http://schemas.microsoft.com/office/powerpoint/2010/main" val="354064961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F354F-EF9E-F540-F9AD-8A83250826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53478A-B83F-8DEF-4C51-B1A682D142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0259E8-2A20-FD04-95FB-540E816AC5F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EB96F74-B079-5A8D-D435-5A6D1E709586}"/>
              </a:ext>
            </a:extLst>
          </p:cNvPr>
          <p:cNvSpPr>
            <a:spLocks noGrp="1"/>
          </p:cNvSpPr>
          <p:nvPr>
            <p:ph type="sldNum" sz="quarter" idx="5"/>
          </p:nvPr>
        </p:nvSpPr>
        <p:spPr/>
        <p:txBody>
          <a:bodyPr/>
          <a:lstStyle/>
          <a:p>
            <a:fld id="{C6B3AB32-59DF-41F1-9618-EDFBF5049629}" type="slidenum">
              <a:rPr lang="en-US" smtClean="0"/>
              <a:t>27</a:t>
            </a:fld>
            <a:endParaRPr lang="en-US" dirty="0"/>
          </a:p>
        </p:txBody>
      </p:sp>
    </p:spTree>
    <p:extLst>
      <p:ext uri="{BB962C8B-B14F-4D97-AF65-F5344CB8AC3E}">
        <p14:creationId xmlns:p14="http://schemas.microsoft.com/office/powerpoint/2010/main" val="41219121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DEFCC-4C0F-1E85-469C-2FCBC63A4D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382458-B144-2283-955E-2DCE3FD06E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690B3A-4FF1-2529-26C0-E3169B7BCC7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EB3CFE4-19C9-86B3-190F-7AD89636988E}"/>
              </a:ext>
            </a:extLst>
          </p:cNvPr>
          <p:cNvSpPr>
            <a:spLocks noGrp="1"/>
          </p:cNvSpPr>
          <p:nvPr>
            <p:ph type="sldNum" sz="quarter" idx="5"/>
          </p:nvPr>
        </p:nvSpPr>
        <p:spPr/>
        <p:txBody>
          <a:bodyPr/>
          <a:lstStyle/>
          <a:p>
            <a:fld id="{C6B3AB32-59DF-41F1-9618-EDFBF5049629}" type="slidenum">
              <a:rPr lang="en-US" smtClean="0"/>
              <a:t>28</a:t>
            </a:fld>
            <a:endParaRPr lang="en-US" dirty="0"/>
          </a:p>
        </p:txBody>
      </p:sp>
    </p:spTree>
    <p:extLst>
      <p:ext uri="{BB962C8B-B14F-4D97-AF65-F5344CB8AC3E}">
        <p14:creationId xmlns:p14="http://schemas.microsoft.com/office/powerpoint/2010/main" val="14578894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smtClean="0"/>
              <a:pPr/>
              <a:t>4/13/2026</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03018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39981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4/13/2026</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092908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4/13/2026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87167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4/13/2026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28574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61BEF0D-F0BB-DE4B-95CE-6DB70DBA9567}" type="datetimeFigureOut">
              <a:rPr lang="en-US" smtClean="0"/>
              <a:pPr/>
              <a:t>4/13/2026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Tree>
    <p:extLst>
      <p:ext uri="{BB962C8B-B14F-4D97-AF65-F5344CB8AC3E}">
        <p14:creationId xmlns:p14="http://schemas.microsoft.com/office/powerpoint/2010/main" val="1164318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4/13/2026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12690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4/13/2026</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3296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4/13/2026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80803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54701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smtClean="0"/>
              <a:pPr/>
              <a:t>4/13/2026</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91526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smtClean="0"/>
              <a:pPr/>
              <a:t>4/13/2026</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8285554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5.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5.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9.jpeg"/><Relationship Id="rId7" Type="http://schemas.openxmlformats.org/officeDocument/2006/relationships/diagramColors" Target="../diagrams/colors1.x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24.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19.jpeg"/><Relationship Id="rId7" Type="http://schemas.openxmlformats.org/officeDocument/2006/relationships/diagramColors" Target="../diagrams/colors2.xm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25.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openxmlformats.org/officeDocument/2006/relationships/image" Target="../media/image22.png"/></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493D4EDA-58E0-40CC-B3CA-14CDEB349D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descr="Digital Connections">
            <a:extLst>
              <a:ext uri="{FF2B5EF4-FFF2-40B4-BE49-F238E27FC236}">
                <a16:creationId xmlns:a16="http://schemas.microsoft.com/office/drawing/2014/main" id="{3840F91C-EDD0-4D4E-A4AB-E6C77856C88C}"/>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13265" t="9091" r="3502" b="-1"/>
          <a:stretch/>
        </p:blipFill>
        <p:spPr>
          <a:xfrm>
            <a:off x="20" y="10"/>
            <a:ext cx="12191980" cy="6857990"/>
          </a:xfrm>
          <a:prstGeom prst="rect">
            <a:avLst/>
          </a:prstGeom>
        </p:spPr>
      </p:pic>
      <p:grpSp>
        <p:nvGrpSpPr>
          <p:cNvPr id="17" name="Group 16">
            <a:extLst>
              <a:ext uri="{FF2B5EF4-FFF2-40B4-BE49-F238E27FC236}">
                <a16:creationId xmlns:a16="http://schemas.microsoft.com/office/drawing/2014/main" id="{AA9EB0BC-A85E-4C26-B355-5DFCEF6CCB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8" name="Rectangle 17">
              <a:extLst>
                <a:ext uri="{FF2B5EF4-FFF2-40B4-BE49-F238E27FC236}">
                  <a16:creationId xmlns:a16="http://schemas.microsoft.com/office/drawing/2014/main" id="{3643E56B-BD42-413D-B17D-7958270F5D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18">
              <a:extLst>
                <a:ext uri="{FF2B5EF4-FFF2-40B4-BE49-F238E27FC236}">
                  <a16:creationId xmlns:a16="http://schemas.microsoft.com/office/drawing/2014/main" id="{96C04F74-9467-4FA5-95DC-8D481A2974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Rectangle 19">
              <a:extLst>
                <a:ext uri="{FF2B5EF4-FFF2-40B4-BE49-F238E27FC236}">
                  <a16:creationId xmlns:a16="http://schemas.microsoft.com/office/drawing/2014/main" id="{D73DE1C3-5C37-42E9-A3F0-256F193832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2" name="Rectangle 21">
            <a:extLst>
              <a:ext uri="{FF2B5EF4-FFF2-40B4-BE49-F238E27FC236}">
                <a16:creationId xmlns:a16="http://schemas.microsoft.com/office/drawing/2014/main" id="{4A2E7EC3-E07C-46CE-9B25-41865A506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732" y="4428067"/>
            <a:ext cx="11260667" cy="1962497"/>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C02C5318-1A1E-49D0-B2E2-A4B0FA9E8A40}"/>
              </a:ext>
            </a:extLst>
          </p:cNvPr>
          <p:cNvSpPr>
            <a:spLocks noGrp="1"/>
          </p:cNvSpPr>
          <p:nvPr>
            <p:ph type="ctrTitle"/>
          </p:nvPr>
        </p:nvSpPr>
        <p:spPr>
          <a:xfrm>
            <a:off x="581191" y="4572000"/>
            <a:ext cx="10993549" cy="895244"/>
          </a:xfrm>
        </p:spPr>
        <p:txBody>
          <a:bodyPr>
            <a:noAutofit/>
          </a:bodyPr>
          <a:lstStyle/>
          <a:p>
            <a:r>
              <a:rPr lang="en-US" sz="6000" dirty="0">
                <a:solidFill>
                  <a:schemeClr val="bg1"/>
                </a:solidFill>
              </a:rPr>
              <a:t>AI IN INSURANCE INDUSTRY</a:t>
            </a:r>
          </a:p>
        </p:txBody>
      </p:sp>
      <p:sp>
        <p:nvSpPr>
          <p:cNvPr id="3" name="Subtitle 2">
            <a:extLst>
              <a:ext uri="{FF2B5EF4-FFF2-40B4-BE49-F238E27FC236}">
                <a16:creationId xmlns:a16="http://schemas.microsoft.com/office/drawing/2014/main" id="{48B6CF59-4E5B-494D-A2F7-97ADD01E6497}"/>
              </a:ext>
            </a:extLst>
          </p:cNvPr>
          <p:cNvSpPr>
            <a:spLocks noGrp="1"/>
          </p:cNvSpPr>
          <p:nvPr>
            <p:ph type="subTitle" idx="1"/>
          </p:nvPr>
        </p:nvSpPr>
        <p:spPr>
          <a:xfrm>
            <a:off x="581194" y="5467246"/>
            <a:ext cx="10993546" cy="484822"/>
          </a:xfrm>
        </p:spPr>
        <p:txBody>
          <a:bodyPr>
            <a:normAutofit/>
          </a:bodyPr>
          <a:lstStyle/>
          <a:p>
            <a:r>
              <a:rPr lang="en-US" sz="2400" b="1" dirty="0">
                <a:solidFill>
                  <a:srgbClr val="FB9205"/>
                </a:solidFill>
                <a:latin typeface="Calibri" panose="020F0502020204030204" pitchFamily="34" charset="0"/>
                <a:ea typeface="Calibri" panose="020F0502020204030204" pitchFamily="34" charset="0"/>
                <a:cs typeface="Calibri" panose="020F0502020204030204" pitchFamily="34" charset="0"/>
              </a:rPr>
              <a:t>Using machine learning to improve insurance risk predictions</a:t>
            </a:r>
          </a:p>
        </p:txBody>
      </p:sp>
    </p:spTree>
    <p:extLst>
      <p:ext uri="{BB962C8B-B14F-4D97-AF65-F5344CB8AC3E}">
        <p14:creationId xmlns:p14="http://schemas.microsoft.com/office/powerpoint/2010/main" val="14877007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CF95D52-D8B3-CCB6-7078-9E721630D38E}"/>
              </a:ext>
            </a:extLst>
          </p:cNvPr>
          <p:cNvPicPr>
            <a:picLocks noChangeAspect="1"/>
          </p:cNvPicPr>
          <p:nvPr/>
        </p:nvPicPr>
        <p:blipFill>
          <a:blip r:embed="rId2"/>
          <a:stretch>
            <a:fillRect/>
          </a:stretch>
        </p:blipFill>
        <p:spPr>
          <a:xfrm>
            <a:off x="2805854" y="620713"/>
            <a:ext cx="6580292" cy="6169025"/>
          </a:xfrm>
          <a:prstGeom prst="rect">
            <a:avLst/>
          </a:prstGeom>
          <a:noFill/>
        </p:spPr>
      </p:pic>
    </p:spTree>
    <p:extLst>
      <p:ext uri="{BB962C8B-B14F-4D97-AF65-F5344CB8AC3E}">
        <p14:creationId xmlns:p14="http://schemas.microsoft.com/office/powerpoint/2010/main" val="29583606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Artificial Intelligence (AI) For Insurance market report bar graph">
            <a:extLst>
              <a:ext uri="{FF2B5EF4-FFF2-40B4-BE49-F238E27FC236}">
                <a16:creationId xmlns:a16="http://schemas.microsoft.com/office/drawing/2014/main" id="{CD18F606-AE52-D84D-EABF-018858954947}"/>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285875" y="574675"/>
            <a:ext cx="9103783" cy="6169025"/>
          </a:xfrm>
          <a:prstGeom prst="rect">
            <a:avLst/>
          </a:prstGeom>
          <a:solidFill>
            <a:srgbClr val="FFFFFF"/>
          </a:solidFill>
        </p:spPr>
      </p:pic>
    </p:spTree>
    <p:extLst>
      <p:ext uri="{BB962C8B-B14F-4D97-AF65-F5344CB8AC3E}">
        <p14:creationId xmlns:p14="http://schemas.microsoft.com/office/powerpoint/2010/main" val="11372528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633EB-7DCB-4DDC-80AF-C885A3EE1245}"/>
              </a:ext>
            </a:extLst>
          </p:cNvPr>
          <p:cNvSpPr>
            <a:spLocks noGrp="1"/>
          </p:cNvSpPr>
          <p:nvPr>
            <p:ph type="title"/>
          </p:nvPr>
        </p:nvSpPr>
        <p:spPr/>
        <p:txBody>
          <a:bodyPr/>
          <a:lstStyle/>
          <a:p>
            <a:r>
              <a:rPr lang="en-US" dirty="0"/>
              <a:t>INTRODUCTION</a:t>
            </a:r>
          </a:p>
        </p:txBody>
      </p:sp>
      <p:sp>
        <p:nvSpPr>
          <p:cNvPr id="6" name="TextBox 5">
            <a:extLst>
              <a:ext uri="{FF2B5EF4-FFF2-40B4-BE49-F238E27FC236}">
                <a16:creationId xmlns:a16="http://schemas.microsoft.com/office/drawing/2014/main" id="{35BCACAC-D354-7589-EFED-49B87B3A97E7}"/>
              </a:ext>
            </a:extLst>
          </p:cNvPr>
          <p:cNvSpPr txBox="1"/>
          <p:nvPr/>
        </p:nvSpPr>
        <p:spPr>
          <a:xfrm>
            <a:off x="378691" y="2041236"/>
            <a:ext cx="11323783" cy="4539704"/>
          </a:xfrm>
          <a:prstGeom prst="rect">
            <a:avLst/>
          </a:prstGeom>
          <a:noFill/>
        </p:spPr>
        <p:txBody>
          <a:bodyPr wrap="square" rtlCol="0">
            <a:spAutoFit/>
          </a:bodyPr>
          <a:lstStyle/>
          <a:p>
            <a:pPr marL="285750" indent="-285750">
              <a:buFont typeface="Wingdings" panose="05000000000000000000" pitchFamily="2" charset="2"/>
              <a:buChar char="v"/>
            </a:pPr>
            <a:r>
              <a:rPr lang="en-US" sz="1700" dirty="0"/>
              <a:t>Insurance companies rely heavily on accurate risk prediction to identify potential customers, make marketing easier, and reducing the chances of loosing money.</a:t>
            </a:r>
          </a:p>
          <a:p>
            <a:pPr marL="285750" indent="-285750">
              <a:buFont typeface="Wingdings" panose="05000000000000000000" pitchFamily="2" charset="2"/>
              <a:buChar char="v"/>
            </a:pPr>
            <a:endParaRPr lang="en-US" sz="1700" dirty="0"/>
          </a:p>
          <a:p>
            <a:pPr marL="285750" indent="-285750">
              <a:buFont typeface="Wingdings" panose="05000000000000000000" pitchFamily="2" charset="2"/>
              <a:buChar char="v"/>
            </a:pPr>
            <a:r>
              <a:rPr lang="en-US" sz="1700" dirty="0"/>
              <a:t>Traditionally, actuarial models such as logistic and Probit regression have been widely used because they are interpretable and statistically solid.</a:t>
            </a:r>
          </a:p>
          <a:p>
            <a:pPr marL="285750" indent="-285750">
              <a:buFont typeface="Wingdings" panose="05000000000000000000" pitchFamily="2" charset="2"/>
              <a:buChar char="v"/>
            </a:pPr>
            <a:endParaRPr lang="en-US" sz="1700" dirty="0"/>
          </a:p>
          <a:p>
            <a:pPr marL="285750" indent="-285750">
              <a:buFont typeface="Wingdings" panose="05000000000000000000" pitchFamily="2" charset="2"/>
              <a:buChar char="v"/>
            </a:pPr>
            <a:r>
              <a:rPr lang="en-US" sz="1700" dirty="0"/>
              <a:t>However because of the rapid growth of data, insurance companies have started to shift from these traditional methods to machine learning techniques that can capture more complex and nonlinear relationships which traditional models may miss</a:t>
            </a:r>
          </a:p>
          <a:p>
            <a:pPr marL="285750" indent="-285750">
              <a:buFont typeface="Wingdings" panose="05000000000000000000" pitchFamily="2" charset="2"/>
              <a:buChar char="v"/>
            </a:pPr>
            <a:endParaRPr lang="en-US" sz="1700" dirty="0"/>
          </a:p>
          <a:p>
            <a:pPr marL="285750" indent="-285750">
              <a:buFont typeface="Wingdings" panose="05000000000000000000" pitchFamily="2" charset="2"/>
              <a:buChar char="v"/>
            </a:pPr>
            <a:r>
              <a:rPr lang="en-US" sz="1700" dirty="0"/>
              <a:t>Therefore, this study investigates whether modern machine learning techniques—specifically Random Forest and </a:t>
            </a:r>
            <a:r>
              <a:rPr lang="en-US" sz="1700" dirty="0" err="1"/>
              <a:t>XGBoost</a:t>
            </a:r>
            <a:r>
              <a:rPr lang="en-US" sz="1700" dirty="0"/>
              <a:t>—can outperform traditional actuarial models in predicting customer interest in vehicle insurance. </a:t>
            </a:r>
          </a:p>
          <a:p>
            <a:pPr marL="285750" indent="-285750">
              <a:buFont typeface="Wingdings" panose="05000000000000000000" pitchFamily="2" charset="2"/>
              <a:buChar char="v"/>
            </a:pPr>
            <a:endParaRPr lang="en-US" sz="1700" dirty="0"/>
          </a:p>
          <a:p>
            <a:pPr marL="285750" indent="-285750">
              <a:buFont typeface="Wingdings" panose="05000000000000000000" pitchFamily="2" charset="2"/>
              <a:buChar char="v"/>
            </a:pPr>
            <a:r>
              <a:rPr lang="en-US" sz="1700" dirty="0"/>
              <a:t>In addition to comparing predictive performance, the study also analyzes which </a:t>
            </a:r>
            <a:r>
              <a:rPr lang="en-US" sz="1700" b="1" dirty="0"/>
              <a:t>variables </a:t>
            </a:r>
            <a:r>
              <a:rPr lang="en-US" sz="1700" dirty="0"/>
              <a:t>are most influential across models.</a:t>
            </a:r>
          </a:p>
          <a:p>
            <a:pPr marL="285750" indent="-285750">
              <a:buFont typeface="Wingdings" panose="05000000000000000000" pitchFamily="2" charset="2"/>
              <a:buChar char="v"/>
            </a:pPr>
            <a:endParaRPr lang="en-US" sz="1700" dirty="0"/>
          </a:p>
          <a:p>
            <a:pPr marL="285750" indent="-285750">
              <a:buFont typeface="Wingdings" panose="05000000000000000000" pitchFamily="2" charset="2"/>
              <a:buChar char="v"/>
            </a:pPr>
            <a:r>
              <a:rPr lang="en-US" sz="1700" dirty="0"/>
              <a:t>This helps insurance companies to identify what influences customers’ decisions and what factors encourage them to purchase insurance.”</a:t>
            </a:r>
          </a:p>
        </p:txBody>
      </p:sp>
    </p:spTree>
    <p:extLst>
      <p:ext uri="{BB962C8B-B14F-4D97-AF65-F5344CB8AC3E}">
        <p14:creationId xmlns:p14="http://schemas.microsoft.com/office/powerpoint/2010/main" val="4976075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08D1C-EF7F-31D5-64F3-482AB34A9B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A03F2B-2868-A112-CF59-D6FCDFA804EE}"/>
              </a:ext>
            </a:extLst>
          </p:cNvPr>
          <p:cNvSpPr>
            <a:spLocks noGrp="1"/>
          </p:cNvSpPr>
          <p:nvPr>
            <p:ph type="title"/>
          </p:nvPr>
        </p:nvSpPr>
        <p:spPr/>
        <p:txBody>
          <a:bodyPr/>
          <a:lstStyle/>
          <a:p>
            <a:r>
              <a:rPr lang="en-US" dirty="0"/>
              <a:t>Objective of the study</a:t>
            </a:r>
          </a:p>
        </p:txBody>
      </p:sp>
      <p:pic>
        <p:nvPicPr>
          <p:cNvPr id="11" name="Content Placeholder 4" descr="Charts">
            <a:extLst>
              <a:ext uri="{FF2B5EF4-FFF2-40B4-BE49-F238E27FC236}">
                <a16:creationId xmlns:a16="http://schemas.microsoft.com/office/drawing/2014/main" id="{DD88C9E0-DD69-CC4F-9E0B-02E3DE7E7005}"/>
              </a:ext>
            </a:extLst>
          </p:cNvPr>
          <p:cNvPicPr>
            <a:picLocks noGrp="1" noChangeAspect="1"/>
          </p:cNvPicPr>
          <p:nvPr>
            <p:ph sz="half" idx="1"/>
          </p:nvPr>
        </p:nvPicPr>
        <p:blipFill rotWithShape="1">
          <a:blip r:embed="rId2" cstate="screen">
            <a:extLst>
              <a:ext uri="{28A0092B-C50C-407E-A947-70E740481C1C}">
                <a14:useLocalDpi xmlns:a14="http://schemas.microsoft.com/office/drawing/2010/main"/>
              </a:ext>
            </a:extLst>
          </a:blip>
          <a:stretch/>
        </p:blipFill>
        <p:spPr>
          <a:xfrm>
            <a:off x="581025" y="2231480"/>
            <a:ext cx="5422900" cy="3625353"/>
          </a:xfrm>
        </p:spPr>
      </p:pic>
      <p:sp>
        <p:nvSpPr>
          <p:cNvPr id="4" name="Content Placeholder 3">
            <a:extLst>
              <a:ext uri="{FF2B5EF4-FFF2-40B4-BE49-F238E27FC236}">
                <a16:creationId xmlns:a16="http://schemas.microsoft.com/office/drawing/2014/main" id="{095A2428-6679-7FBC-4550-C9991E09CAC6}"/>
              </a:ext>
            </a:extLst>
          </p:cNvPr>
          <p:cNvSpPr>
            <a:spLocks noGrp="1"/>
          </p:cNvSpPr>
          <p:nvPr>
            <p:ph sz="half" idx="2"/>
          </p:nvPr>
        </p:nvSpPr>
        <p:spPr>
          <a:xfrm>
            <a:off x="6290017" y="2338839"/>
            <a:ext cx="5422392" cy="3633047"/>
          </a:xfrm>
        </p:spPr>
        <p:txBody>
          <a:bodyPr>
            <a:normAutofit/>
          </a:bodyPr>
          <a:lstStyle/>
          <a:p>
            <a:r>
              <a:rPr lang="en-US" sz="2400" dirty="0">
                <a:latin typeface="Abadi" panose="020B0604020104020204" pitchFamily="34" charset="0"/>
              </a:rPr>
              <a:t>Compare traditional actuarial models (Logistics &amp; Probit) with Machine Learning models (Random Forest &amp; XG-Boost)</a:t>
            </a:r>
          </a:p>
          <a:p>
            <a:r>
              <a:rPr lang="en-US" sz="2400" dirty="0">
                <a:latin typeface="Abadi" panose="020B0604020104020204" pitchFamily="34" charset="0"/>
              </a:rPr>
              <a:t>Evaluate predictive performance</a:t>
            </a:r>
          </a:p>
          <a:p>
            <a:r>
              <a:rPr lang="en-US" sz="2400" dirty="0">
                <a:latin typeface="Abadi" panose="020B0604020104020204" pitchFamily="34" charset="0"/>
              </a:rPr>
              <a:t>Identify key variables influencing insurance purchase decisions</a:t>
            </a:r>
          </a:p>
        </p:txBody>
      </p:sp>
    </p:spTree>
    <p:extLst>
      <p:ext uri="{BB962C8B-B14F-4D97-AF65-F5344CB8AC3E}">
        <p14:creationId xmlns:p14="http://schemas.microsoft.com/office/powerpoint/2010/main" val="20453273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F9C1A8-219C-45C4-A79E-854CD89591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0FC186-0B00-BF94-7D9D-4D8D2DFBC93D}"/>
              </a:ext>
            </a:extLst>
          </p:cNvPr>
          <p:cNvSpPr>
            <a:spLocks noGrp="1"/>
          </p:cNvSpPr>
          <p:nvPr>
            <p:ph type="title"/>
          </p:nvPr>
        </p:nvSpPr>
        <p:spPr>
          <a:xfrm>
            <a:off x="581193" y="729658"/>
            <a:ext cx="11029616" cy="988332"/>
          </a:xfrm>
        </p:spPr>
        <p:txBody>
          <a:bodyPr anchor="b">
            <a:normAutofit/>
          </a:bodyPr>
          <a:lstStyle/>
          <a:p>
            <a:r>
              <a:rPr lang="en-US" b="1" dirty="0">
                <a:latin typeface="Calibri" panose="020F0502020204030204" pitchFamily="34" charset="0"/>
                <a:ea typeface="Calibri" panose="020F0502020204030204" pitchFamily="34" charset="0"/>
                <a:cs typeface="Calibri" panose="020F0502020204030204" pitchFamily="34" charset="0"/>
              </a:rPr>
              <a:t>Data description</a:t>
            </a:r>
            <a:br>
              <a:rPr lang="en-US" b="1" dirty="0">
                <a:solidFill>
                  <a:srgbClr val="FB9205"/>
                </a:solidFill>
                <a:latin typeface="Calibri" panose="020F0502020204030204" pitchFamily="34" charset="0"/>
                <a:ea typeface="Calibri" panose="020F0502020204030204" pitchFamily="34" charset="0"/>
                <a:cs typeface="Calibri" panose="020F0502020204030204" pitchFamily="34" charset="0"/>
              </a:rPr>
            </a:br>
            <a:endParaRPr lang="en-US" sz="1600" dirty="0"/>
          </a:p>
        </p:txBody>
      </p:sp>
      <p:sp>
        <p:nvSpPr>
          <p:cNvPr id="9" name="TextBox 8">
            <a:extLst>
              <a:ext uri="{FF2B5EF4-FFF2-40B4-BE49-F238E27FC236}">
                <a16:creationId xmlns:a16="http://schemas.microsoft.com/office/drawing/2014/main" id="{B6D5DF05-F6F0-2F0C-454C-A4B3A0CF3108}"/>
              </a:ext>
            </a:extLst>
          </p:cNvPr>
          <p:cNvSpPr txBox="1"/>
          <p:nvPr/>
        </p:nvSpPr>
        <p:spPr>
          <a:xfrm>
            <a:off x="581192" y="1956816"/>
            <a:ext cx="11406591" cy="2677656"/>
          </a:xfrm>
          <a:prstGeom prst="rect">
            <a:avLst/>
          </a:prstGeom>
          <a:noFill/>
        </p:spPr>
        <p:txBody>
          <a:bodyPr wrap="square" rtlCol="0">
            <a:spAutoFit/>
          </a:bodyPr>
          <a:lstStyle/>
          <a:p>
            <a:pPr marL="571500" indent="-571500">
              <a:buFont typeface="Wingdings" panose="05000000000000000000" pitchFamily="2" charset="2"/>
              <a:buChar char="v"/>
            </a:pPr>
            <a:r>
              <a:rPr lang="en-US" sz="2400" dirty="0">
                <a:latin typeface="Abadi" panose="020B0604020104020204" pitchFamily="34" charset="0"/>
              </a:rPr>
              <a:t>The dataset used in this study was obtained from Kaggle's </a:t>
            </a:r>
            <a:r>
              <a:rPr lang="en-US" sz="2400" i="1" dirty="0">
                <a:latin typeface="Abadi" panose="020B0604020104020204" pitchFamily="34" charset="0"/>
              </a:rPr>
              <a:t>Health Insurance Cross Sell Prediction</a:t>
            </a:r>
            <a:r>
              <a:rPr lang="en-US" sz="2400" dirty="0">
                <a:latin typeface="Abadi" panose="020B0604020104020204" pitchFamily="34" charset="0"/>
              </a:rPr>
              <a:t> dataset, which contains customer demographic information, vehicle characteristics, and previous insurance history used to predict interest in vehicle insurance products.</a:t>
            </a:r>
          </a:p>
          <a:p>
            <a:pPr marL="571500" indent="-571500">
              <a:buFont typeface="Wingdings" panose="05000000000000000000" pitchFamily="2" charset="2"/>
              <a:buChar char="v"/>
            </a:pPr>
            <a:endParaRPr lang="en-US" sz="2400" dirty="0">
              <a:latin typeface="Abadi" panose="020B0604020104020204" pitchFamily="34" charset="0"/>
            </a:endParaRPr>
          </a:p>
          <a:p>
            <a:pPr marL="571500" indent="-571500">
              <a:buFont typeface="Wingdings" panose="05000000000000000000" pitchFamily="2" charset="2"/>
              <a:buChar char="v"/>
            </a:pPr>
            <a:r>
              <a:rPr lang="en-US" sz="2400" dirty="0">
                <a:latin typeface="Abadi" panose="020B0604020104020204" pitchFamily="34" charset="0"/>
              </a:rPr>
              <a:t>The dataset consist of 381109 observations, 10 predictor variables and a Binary response variable</a:t>
            </a:r>
          </a:p>
        </p:txBody>
      </p:sp>
    </p:spTree>
    <p:extLst>
      <p:ext uri="{BB962C8B-B14F-4D97-AF65-F5344CB8AC3E}">
        <p14:creationId xmlns:p14="http://schemas.microsoft.com/office/powerpoint/2010/main" val="23457224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C8E2CD-ECA0-A694-BEAF-2E2FD0903AC1}"/>
            </a:ext>
          </a:extLst>
        </p:cNvPr>
        <p:cNvGrpSpPr/>
        <p:nvPr/>
      </p:nvGrpSpPr>
      <p:grpSpPr>
        <a:xfrm>
          <a:off x="0" y="0"/>
          <a:ext cx="0" cy="0"/>
          <a:chOff x="0" y="0"/>
          <a:chExt cx="0" cy="0"/>
        </a:xfrm>
      </p:grpSpPr>
      <p:graphicFrame>
        <p:nvGraphicFramePr>
          <p:cNvPr id="8" name="Table 7">
            <a:extLst>
              <a:ext uri="{FF2B5EF4-FFF2-40B4-BE49-F238E27FC236}">
                <a16:creationId xmlns:a16="http://schemas.microsoft.com/office/drawing/2014/main" id="{A7633470-A430-780A-6137-CE740BDB131C}"/>
              </a:ext>
            </a:extLst>
          </p:cNvPr>
          <p:cNvGraphicFramePr>
            <a:graphicFrameLocks noGrp="1"/>
          </p:cNvGraphicFramePr>
          <p:nvPr>
            <p:extLst>
              <p:ext uri="{D42A27DB-BD31-4B8C-83A1-F6EECF244321}">
                <p14:modId xmlns:p14="http://schemas.microsoft.com/office/powerpoint/2010/main" val="2463107658"/>
              </p:ext>
            </p:extLst>
          </p:nvPr>
        </p:nvGraphicFramePr>
        <p:xfrm>
          <a:off x="0" y="2"/>
          <a:ext cx="12191999" cy="6857994"/>
        </p:xfrm>
        <a:graphic>
          <a:graphicData uri="http://schemas.openxmlformats.org/drawingml/2006/table">
            <a:tbl>
              <a:tblPr firstRow="1" bandRow="1">
                <a:tableStyleId>{5C22544A-7EE6-4342-B048-85BDC9FD1C3A}</a:tableStyleId>
              </a:tblPr>
              <a:tblGrid>
                <a:gridCol w="3367071">
                  <a:extLst>
                    <a:ext uri="{9D8B030D-6E8A-4147-A177-3AD203B41FA5}">
                      <a16:colId xmlns:a16="http://schemas.microsoft.com/office/drawing/2014/main" val="3098708739"/>
                    </a:ext>
                  </a:extLst>
                </a:gridCol>
                <a:gridCol w="4428012">
                  <a:extLst>
                    <a:ext uri="{9D8B030D-6E8A-4147-A177-3AD203B41FA5}">
                      <a16:colId xmlns:a16="http://schemas.microsoft.com/office/drawing/2014/main" val="923097082"/>
                    </a:ext>
                  </a:extLst>
                </a:gridCol>
                <a:gridCol w="4396916">
                  <a:extLst>
                    <a:ext uri="{9D8B030D-6E8A-4147-A177-3AD203B41FA5}">
                      <a16:colId xmlns:a16="http://schemas.microsoft.com/office/drawing/2014/main" val="1454071979"/>
                    </a:ext>
                  </a:extLst>
                </a:gridCol>
              </a:tblGrid>
              <a:tr h="327341">
                <a:tc>
                  <a:txBody>
                    <a:bodyPr/>
                    <a:lstStyle/>
                    <a:p>
                      <a:r>
                        <a:rPr lang="en-US" sz="1400" dirty="0">
                          <a:latin typeface="Abadi" panose="020B0604020104020204" pitchFamily="34" charset="0"/>
                        </a:rPr>
                        <a:t>Variable</a:t>
                      </a:r>
                    </a:p>
                  </a:txBody>
                  <a:tcPr/>
                </a:tc>
                <a:tc>
                  <a:txBody>
                    <a:bodyPr/>
                    <a:lstStyle/>
                    <a:p>
                      <a:r>
                        <a:rPr lang="en-US" sz="1400" dirty="0">
                          <a:latin typeface="Abadi" panose="020B0604020104020204" pitchFamily="34" charset="0"/>
                        </a:rPr>
                        <a:t>Type</a:t>
                      </a:r>
                    </a:p>
                  </a:txBody>
                  <a:tcPr/>
                </a:tc>
                <a:tc>
                  <a:txBody>
                    <a:bodyPr/>
                    <a:lstStyle/>
                    <a:p>
                      <a:r>
                        <a:rPr lang="en-US" sz="1400" dirty="0">
                          <a:latin typeface="Abadi" panose="020B0604020104020204" pitchFamily="34" charset="0"/>
                        </a:rPr>
                        <a:t>Description</a:t>
                      </a:r>
                    </a:p>
                  </a:txBody>
                  <a:tcPr/>
                </a:tc>
                <a:extLst>
                  <a:ext uri="{0D108BD9-81ED-4DB2-BD59-A6C34878D82A}">
                    <a16:rowId xmlns:a16="http://schemas.microsoft.com/office/drawing/2014/main" val="1097568757"/>
                  </a:ext>
                </a:extLst>
              </a:tr>
              <a:tr h="556478">
                <a:tc>
                  <a:txBody>
                    <a:bodyPr/>
                    <a:lstStyle/>
                    <a:p>
                      <a:r>
                        <a:rPr lang="en-US" sz="1400" dirty="0">
                          <a:latin typeface="Abadi" panose="020B0604020104020204" pitchFamily="34" charset="0"/>
                        </a:rPr>
                        <a:t>Gender – predictor variable</a:t>
                      </a:r>
                    </a:p>
                  </a:txBody>
                  <a:tcPr/>
                </a:tc>
                <a:tc>
                  <a:txBody>
                    <a:bodyPr/>
                    <a:lstStyle/>
                    <a:p>
                      <a:r>
                        <a:rPr lang="en-US" sz="1400" dirty="0">
                          <a:latin typeface="Abadi" panose="020B0604020104020204" pitchFamily="34" charset="0"/>
                        </a:rPr>
                        <a:t>Categorical</a:t>
                      </a:r>
                    </a:p>
                  </a:txBody>
                  <a:tcPr/>
                </a:tc>
                <a:tc>
                  <a:txBody>
                    <a:bodyPr/>
                    <a:lstStyle/>
                    <a:p>
                      <a:r>
                        <a:rPr lang="en-US" sz="1400" b="0" i="0" kern="1200" dirty="0">
                          <a:solidFill>
                            <a:schemeClr val="dk1"/>
                          </a:solidFill>
                          <a:effectLst/>
                          <a:latin typeface="Abadi" panose="020B0604020104020204" pitchFamily="34" charset="0"/>
                          <a:ea typeface="+mn-ea"/>
                          <a:cs typeface="+mn-cs"/>
                        </a:rPr>
                        <a:t>Gender of the customer</a:t>
                      </a:r>
                      <a:endParaRPr lang="en-US" sz="1400" dirty="0">
                        <a:latin typeface="Abadi" panose="020B0604020104020204" pitchFamily="34" charset="0"/>
                      </a:endParaRPr>
                    </a:p>
                  </a:txBody>
                  <a:tcPr/>
                </a:tc>
                <a:extLst>
                  <a:ext uri="{0D108BD9-81ED-4DB2-BD59-A6C34878D82A}">
                    <a16:rowId xmlns:a16="http://schemas.microsoft.com/office/drawing/2014/main" val="2981485767"/>
                  </a:ext>
                </a:extLst>
              </a:tr>
              <a:tr h="556478">
                <a:tc>
                  <a:txBody>
                    <a:bodyPr/>
                    <a:lstStyle/>
                    <a:p>
                      <a:r>
                        <a:rPr lang="en-US" sz="1400" dirty="0">
                          <a:latin typeface="Abadi" panose="020B0604020104020204" pitchFamily="34" charset="0"/>
                        </a:rPr>
                        <a:t>Age – predictor variable</a:t>
                      </a:r>
                    </a:p>
                  </a:txBody>
                  <a:tcPr/>
                </a:tc>
                <a:tc>
                  <a:txBody>
                    <a:bodyPr/>
                    <a:lstStyle/>
                    <a:p>
                      <a:r>
                        <a:rPr lang="en-US" sz="1400" dirty="0">
                          <a:latin typeface="Abadi" panose="020B0604020104020204" pitchFamily="34" charset="0"/>
                        </a:rPr>
                        <a:t>Numeric</a:t>
                      </a:r>
                    </a:p>
                  </a:txBody>
                  <a:tcPr/>
                </a:tc>
                <a:tc>
                  <a:txBody>
                    <a:bodyPr/>
                    <a:lstStyle/>
                    <a:p>
                      <a:r>
                        <a:rPr lang="en-US" sz="1400" b="0" i="0" kern="1200" dirty="0">
                          <a:solidFill>
                            <a:schemeClr val="dk1"/>
                          </a:solidFill>
                          <a:effectLst/>
                          <a:latin typeface="Abadi" panose="020B0604020104020204" pitchFamily="34" charset="0"/>
                          <a:ea typeface="+mn-ea"/>
                          <a:cs typeface="+mn-cs"/>
                        </a:rPr>
                        <a:t>Age of the customer</a:t>
                      </a:r>
                      <a:endParaRPr lang="en-US" sz="1400" dirty="0">
                        <a:latin typeface="Abadi" panose="020B0604020104020204" pitchFamily="34" charset="0"/>
                      </a:endParaRPr>
                    </a:p>
                  </a:txBody>
                  <a:tcPr/>
                </a:tc>
                <a:extLst>
                  <a:ext uri="{0D108BD9-81ED-4DB2-BD59-A6C34878D82A}">
                    <a16:rowId xmlns:a16="http://schemas.microsoft.com/office/drawing/2014/main" val="186544752"/>
                  </a:ext>
                </a:extLst>
              </a:tr>
              <a:tr h="556478">
                <a:tc>
                  <a:txBody>
                    <a:bodyPr/>
                    <a:lstStyle/>
                    <a:p>
                      <a:r>
                        <a:rPr lang="en-US" sz="1400" dirty="0" err="1">
                          <a:latin typeface="Abadi" panose="020B0604020104020204" pitchFamily="34" charset="0"/>
                        </a:rPr>
                        <a:t>Driving_License</a:t>
                      </a:r>
                      <a:r>
                        <a:rPr lang="en-US" sz="1400" dirty="0">
                          <a:latin typeface="Abadi" panose="020B0604020104020204" pitchFamily="34" charset="0"/>
                        </a:rPr>
                        <a:t> – predictor variable</a:t>
                      </a:r>
                    </a:p>
                  </a:txBody>
                  <a:tcPr/>
                </a:tc>
                <a:tc>
                  <a:txBody>
                    <a:bodyPr/>
                    <a:lstStyle/>
                    <a:p>
                      <a:r>
                        <a:rPr lang="en-US" sz="1400" dirty="0">
                          <a:latin typeface="Abadi" panose="020B0604020104020204" pitchFamily="34" charset="0"/>
                        </a:rPr>
                        <a:t>Categorical-Binary(0 or 1)</a:t>
                      </a:r>
                    </a:p>
                  </a:txBody>
                  <a:tcPr/>
                </a:tc>
                <a:tc>
                  <a:txBody>
                    <a:bodyPr/>
                    <a:lstStyle/>
                    <a:p>
                      <a:r>
                        <a:rPr lang="en-US" sz="1400" b="0" i="0" kern="1200" dirty="0">
                          <a:solidFill>
                            <a:schemeClr val="dk1"/>
                          </a:solidFill>
                          <a:effectLst/>
                          <a:latin typeface="Abadi" panose="020B0604020104020204" pitchFamily="34" charset="0"/>
                          <a:ea typeface="+mn-ea"/>
                          <a:cs typeface="+mn-cs"/>
                        </a:rPr>
                        <a:t>0 : Customer does not have DL, 1 : Customer already has DL</a:t>
                      </a:r>
                      <a:endParaRPr lang="en-US" sz="1400" dirty="0">
                        <a:latin typeface="Abadi" panose="020B0604020104020204" pitchFamily="34" charset="0"/>
                      </a:endParaRPr>
                    </a:p>
                  </a:txBody>
                  <a:tcPr/>
                </a:tc>
                <a:extLst>
                  <a:ext uri="{0D108BD9-81ED-4DB2-BD59-A6C34878D82A}">
                    <a16:rowId xmlns:a16="http://schemas.microsoft.com/office/drawing/2014/main" val="1843370098"/>
                  </a:ext>
                </a:extLst>
              </a:tr>
              <a:tr h="556478">
                <a:tc>
                  <a:txBody>
                    <a:bodyPr/>
                    <a:lstStyle/>
                    <a:p>
                      <a:r>
                        <a:rPr lang="en-US" sz="1400" dirty="0" err="1">
                          <a:latin typeface="Abadi" panose="020B0604020104020204" pitchFamily="34" charset="0"/>
                        </a:rPr>
                        <a:t>Region_Code</a:t>
                      </a:r>
                      <a:r>
                        <a:rPr lang="en-US" sz="1400" dirty="0">
                          <a:latin typeface="Abadi" panose="020B0604020104020204" pitchFamily="34" charset="0"/>
                        </a:rPr>
                        <a:t> – predictor variable</a:t>
                      </a:r>
                    </a:p>
                  </a:txBody>
                  <a:tcPr/>
                </a:tc>
                <a:tc>
                  <a:txBody>
                    <a:bodyPr/>
                    <a:lstStyle/>
                    <a:p>
                      <a:r>
                        <a:rPr lang="en-US" sz="1400" dirty="0">
                          <a:latin typeface="Abadi" panose="020B0604020104020204" pitchFamily="34" charset="0"/>
                        </a:rPr>
                        <a:t>Categorical</a:t>
                      </a:r>
                    </a:p>
                  </a:txBody>
                  <a:tcPr/>
                </a:tc>
                <a:tc>
                  <a:txBody>
                    <a:bodyPr/>
                    <a:lstStyle/>
                    <a:p>
                      <a:r>
                        <a:rPr lang="en-US" sz="1400" b="0" i="0" kern="1200" dirty="0">
                          <a:solidFill>
                            <a:schemeClr val="dk1"/>
                          </a:solidFill>
                          <a:effectLst/>
                          <a:latin typeface="Abadi" panose="020B0604020104020204" pitchFamily="34" charset="0"/>
                          <a:ea typeface="+mn-ea"/>
                          <a:cs typeface="+mn-cs"/>
                        </a:rPr>
                        <a:t>Unique code for the region of the customer</a:t>
                      </a:r>
                      <a:endParaRPr lang="en-US" sz="1400" dirty="0">
                        <a:latin typeface="Abadi" panose="020B0604020104020204" pitchFamily="34" charset="0"/>
                      </a:endParaRPr>
                    </a:p>
                  </a:txBody>
                  <a:tcPr/>
                </a:tc>
                <a:extLst>
                  <a:ext uri="{0D108BD9-81ED-4DB2-BD59-A6C34878D82A}">
                    <a16:rowId xmlns:a16="http://schemas.microsoft.com/office/drawing/2014/main" val="655208271"/>
                  </a:ext>
                </a:extLst>
              </a:tr>
              <a:tr h="556478">
                <a:tc>
                  <a:txBody>
                    <a:bodyPr/>
                    <a:lstStyle/>
                    <a:p>
                      <a:r>
                        <a:rPr lang="en-US" sz="1400" dirty="0" err="1">
                          <a:latin typeface="Abadi" panose="020B0604020104020204" pitchFamily="34" charset="0"/>
                        </a:rPr>
                        <a:t>Previously_Insured</a:t>
                      </a:r>
                      <a:r>
                        <a:rPr lang="en-US" sz="1400" dirty="0">
                          <a:latin typeface="Abadi" panose="020B0604020104020204" pitchFamily="34" charset="0"/>
                        </a:rPr>
                        <a:t> – predictor variable</a:t>
                      </a:r>
                    </a:p>
                  </a:txBody>
                  <a:tcPr/>
                </a:tc>
                <a:tc>
                  <a:txBody>
                    <a:bodyPr/>
                    <a:lstStyle/>
                    <a:p>
                      <a:r>
                        <a:rPr lang="en-US" sz="1400" dirty="0">
                          <a:latin typeface="Abadi" panose="020B0604020104020204" pitchFamily="34" charset="0"/>
                        </a:rPr>
                        <a:t>Categorical</a:t>
                      </a:r>
                    </a:p>
                  </a:txBody>
                  <a:tcPr/>
                </a:tc>
                <a:tc>
                  <a:txBody>
                    <a:bodyPr/>
                    <a:lstStyle/>
                    <a:p>
                      <a:r>
                        <a:rPr lang="en-US" sz="1400" b="0" i="0" kern="1200" dirty="0">
                          <a:solidFill>
                            <a:schemeClr val="dk1"/>
                          </a:solidFill>
                          <a:effectLst/>
                          <a:latin typeface="Abadi" panose="020B0604020104020204" pitchFamily="34" charset="0"/>
                          <a:ea typeface="+mn-ea"/>
                          <a:cs typeface="+mn-cs"/>
                        </a:rPr>
                        <a:t>1 : Customer already has Vehicle Insurance, 0 : Customer doesn't have Vehicle Insurance</a:t>
                      </a:r>
                      <a:endParaRPr lang="en-US" sz="1400" dirty="0">
                        <a:latin typeface="Abadi" panose="020B0604020104020204" pitchFamily="34" charset="0"/>
                      </a:endParaRPr>
                    </a:p>
                  </a:txBody>
                  <a:tcPr/>
                </a:tc>
                <a:extLst>
                  <a:ext uri="{0D108BD9-81ED-4DB2-BD59-A6C34878D82A}">
                    <a16:rowId xmlns:a16="http://schemas.microsoft.com/office/drawing/2014/main" val="1562859013"/>
                  </a:ext>
                </a:extLst>
              </a:tr>
              <a:tr h="736734">
                <a:tc>
                  <a:txBody>
                    <a:bodyPr/>
                    <a:lstStyle/>
                    <a:p>
                      <a:r>
                        <a:rPr lang="en-US" sz="1400" dirty="0" err="1">
                          <a:latin typeface="Abadi" panose="020B0604020104020204" pitchFamily="34" charset="0"/>
                        </a:rPr>
                        <a:t>Vehicle_Damage</a:t>
                      </a:r>
                      <a:r>
                        <a:rPr lang="en-US" sz="1400" dirty="0">
                          <a:latin typeface="Abadi" panose="020B0604020104020204" pitchFamily="34" charset="0"/>
                        </a:rPr>
                        <a:t> – predictor variable</a:t>
                      </a:r>
                    </a:p>
                  </a:txBody>
                  <a:tcPr/>
                </a:tc>
                <a:tc>
                  <a:txBody>
                    <a:bodyPr/>
                    <a:lstStyle/>
                    <a:p>
                      <a:r>
                        <a:rPr lang="en-US" sz="1400" dirty="0">
                          <a:latin typeface="Abadi" panose="020B0604020104020204" pitchFamily="34" charset="0"/>
                        </a:rPr>
                        <a:t>Categorical</a:t>
                      </a:r>
                    </a:p>
                  </a:txBody>
                  <a:tcPr/>
                </a:tc>
                <a:tc>
                  <a:txBody>
                    <a:bodyPr/>
                    <a:lstStyle/>
                    <a:p>
                      <a:r>
                        <a:rPr lang="en-US" sz="1400" b="0" i="0" kern="1200" dirty="0">
                          <a:solidFill>
                            <a:schemeClr val="dk1"/>
                          </a:solidFill>
                          <a:effectLst/>
                          <a:latin typeface="Abadi" panose="020B0604020104020204" pitchFamily="34" charset="0"/>
                          <a:ea typeface="+mn-ea"/>
                          <a:cs typeface="+mn-cs"/>
                        </a:rPr>
                        <a:t>1 : Customer got his/her vehicle damaged in the past. 0 : Customer didn't get his/her vehicle damaged in the past.</a:t>
                      </a:r>
                      <a:endParaRPr lang="en-US" sz="1400" dirty="0">
                        <a:latin typeface="Abadi" panose="020B0604020104020204" pitchFamily="34" charset="0"/>
                      </a:endParaRPr>
                    </a:p>
                  </a:txBody>
                  <a:tcPr/>
                </a:tc>
                <a:extLst>
                  <a:ext uri="{0D108BD9-81ED-4DB2-BD59-A6C34878D82A}">
                    <a16:rowId xmlns:a16="http://schemas.microsoft.com/office/drawing/2014/main" val="2841095668"/>
                  </a:ext>
                </a:extLst>
              </a:tr>
              <a:tr h="556478">
                <a:tc>
                  <a:txBody>
                    <a:bodyPr/>
                    <a:lstStyle/>
                    <a:p>
                      <a:r>
                        <a:rPr lang="en-US" sz="1400" dirty="0" err="1">
                          <a:latin typeface="Abadi" panose="020B0604020104020204" pitchFamily="34" charset="0"/>
                        </a:rPr>
                        <a:t>Annual_Premium</a:t>
                      </a:r>
                      <a:r>
                        <a:rPr lang="en-US" sz="1400" dirty="0">
                          <a:latin typeface="Abadi" panose="020B0604020104020204" pitchFamily="34" charset="0"/>
                        </a:rPr>
                        <a:t> – predictor variable</a:t>
                      </a:r>
                    </a:p>
                  </a:txBody>
                  <a:tcPr/>
                </a:tc>
                <a:tc>
                  <a:txBody>
                    <a:bodyPr/>
                    <a:lstStyle/>
                    <a:p>
                      <a:r>
                        <a:rPr lang="en-US" sz="1400" dirty="0">
                          <a:latin typeface="Abadi" panose="020B0604020104020204" pitchFamily="34" charset="0"/>
                        </a:rPr>
                        <a:t>Numeric</a:t>
                      </a:r>
                    </a:p>
                  </a:txBody>
                  <a:tcPr/>
                </a:tc>
                <a:tc>
                  <a:txBody>
                    <a:bodyPr/>
                    <a:lstStyle/>
                    <a:p>
                      <a:r>
                        <a:rPr lang="en-US" sz="1400" b="0" i="0" kern="1200" dirty="0">
                          <a:solidFill>
                            <a:schemeClr val="dk1"/>
                          </a:solidFill>
                          <a:effectLst/>
                          <a:latin typeface="Abadi" panose="020B0604020104020204" pitchFamily="34" charset="0"/>
                          <a:ea typeface="+mn-ea"/>
                          <a:cs typeface="+mn-cs"/>
                        </a:rPr>
                        <a:t>The amount customer needs to pay as premium in the year</a:t>
                      </a:r>
                      <a:endParaRPr lang="en-US" sz="1400" dirty="0">
                        <a:latin typeface="Abadi" panose="020B0604020104020204" pitchFamily="34" charset="0"/>
                      </a:endParaRPr>
                    </a:p>
                  </a:txBody>
                  <a:tcPr/>
                </a:tc>
                <a:extLst>
                  <a:ext uri="{0D108BD9-81ED-4DB2-BD59-A6C34878D82A}">
                    <a16:rowId xmlns:a16="http://schemas.microsoft.com/office/drawing/2014/main" val="4263619027"/>
                  </a:ext>
                </a:extLst>
              </a:tr>
              <a:tr h="785617">
                <a:tc>
                  <a:txBody>
                    <a:bodyPr/>
                    <a:lstStyle/>
                    <a:p>
                      <a:r>
                        <a:rPr lang="en-US" sz="1400" b="0" i="0" kern="1200" dirty="0" err="1">
                          <a:solidFill>
                            <a:schemeClr val="dk1"/>
                          </a:solidFill>
                          <a:effectLst/>
                          <a:latin typeface="Abadi" panose="020B0604020104020204" pitchFamily="34" charset="0"/>
                          <a:ea typeface="+mn-ea"/>
                          <a:cs typeface="+mn-cs"/>
                        </a:rPr>
                        <a:t>Policy_Sales_Channel</a:t>
                      </a:r>
                      <a:r>
                        <a:rPr lang="en-US" sz="1400" b="0" i="0" kern="1200" dirty="0">
                          <a:solidFill>
                            <a:schemeClr val="dk1"/>
                          </a:solidFill>
                          <a:effectLst/>
                          <a:latin typeface="Abadi" panose="020B0604020104020204" pitchFamily="34" charset="0"/>
                          <a:ea typeface="+mn-ea"/>
                          <a:cs typeface="+mn-cs"/>
                        </a:rPr>
                        <a:t> – </a:t>
                      </a:r>
                      <a:r>
                        <a:rPr lang="en-US" sz="1400" dirty="0">
                          <a:latin typeface="Abadi" panose="020B0604020104020204" pitchFamily="34" charset="0"/>
                        </a:rPr>
                        <a:t>predictor variable</a:t>
                      </a:r>
                    </a:p>
                  </a:txBody>
                  <a:tcPr/>
                </a:tc>
                <a:tc>
                  <a:txBody>
                    <a:bodyPr/>
                    <a:lstStyle/>
                    <a:p>
                      <a:r>
                        <a:rPr lang="en-US" sz="1400" dirty="0">
                          <a:latin typeface="Abadi" panose="020B0604020104020204" pitchFamily="34" charset="0"/>
                        </a:rPr>
                        <a:t>Numeric</a:t>
                      </a:r>
                    </a:p>
                  </a:txBody>
                  <a:tcPr/>
                </a:tc>
                <a:tc>
                  <a:txBody>
                    <a:bodyPr/>
                    <a:lstStyle/>
                    <a:p>
                      <a:r>
                        <a:rPr lang="en-US" sz="1400" b="0" i="0" kern="1200" dirty="0">
                          <a:solidFill>
                            <a:schemeClr val="dk1"/>
                          </a:solidFill>
                          <a:effectLst/>
                          <a:latin typeface="Abadi" panose="020B0604020104020204" pitchFamily="34" charset="0"/>
                          <a:ea typeface="+mn-ea"/>
                          <a:cs typeface="+mn-cs"/>
                        </a:rPr>
                        <a:t>Anonymized Code for the channel of outreaching to the customer </a:t>
                      </a:r>
                      <a:r>
                        <a:rPr lang="en-US" sz="1400" b="0" i="0" kern="1200" dirty="0" err="1">
                          <a:solidFill>
                            <a:schemeClr val="dk1"/>
                          </a:solidFill>
                          <a:effectLst/>
                          <a:latin typeface="Abadi" panose="020B0604020104020204" pitchFamily="34" charset="0"/>
                          <a:ea typeface="+mn-ea"/>
                          <a:cs typeface="+mn-cs"/>
                        </a:rPr>
                        <a:t>ie</a:t>
                      </a:r>
                      <a:r>
                        <a:rPr lang="en-US" sz="1400" b="0" i="0" kern="1200" dirty="0">
                          <a:solidFill>
                            <a:schemeClr val="dk1"/>
                          </a:solidFill>
                          <a:effectLst/>
                          <a:latin typeface="Abadi" panose="020B0604020104020204" pitchFamily="34" charset="0"/>
                          <a:ea typeface="+mn-ea"/>
                          <a:cs typeface="+mn-cs"/>
                        </a:rPr>
                        <a:t>. Different Agents, Over Mail, Over Phone, In Person, etc.</a:t>
                      </a:r>
                      <a:endParaRPr lang="en-US" sz="1400" dirty="0">
                        <a:latin typeface="Abadi" panose="020B0604020104020204" pitchFamily="34" charset="0"/>
                      </a:endParaRPr>
                    </a:p>
                  </a:txBody>
                  <a:tcPr/>
                </a:tc>
                <a:extLst>
                  <a:ext uri="{0D108BD9-81ED-4DB2-BD59-A6C34878D82A}">
                    <a16:rowId xmlns:a16="http://schemas.microsoft.com/office/drawing/2014/main" val="1020076580"/>
                  </a:ext>
                </a:extLst>
              </a:tr>
              <a:tr h="556478">
                <a:tc>
                  <a:txBody>
                    <a:bodyPr/>
                    <a:lstStyle/>
                    <a:p>
                      <a:r>
                        <a:rPr lang="en-US" sz="1400" b="0" i="0" kern="1200" dirty="0">
                          <a:solidFill>
                            <a:schemeClr val="dk1"/>
                          </a:solidFill>
                          <a:effectLst/>
                          <a:latin typeface="Abadi" panose="020B0604020104020204" pitchFamily="34" charset="0"/>
                          <a:ea typeface="+mn-ea"/>
                          <a:cs typeface="+mn-cs"/>
                        </a:rPr>
                        <a:t>Vintage – </a:t>
                      </a:r>
                      <a:r>
                        <a:rPr lang="en-US" sz="1400" dirty="0">
                          <a:latin typeface="Abadi" panose="020B0604020104020204" pitchFamily="34" charset="0"/>
                        </a:rPr>
                        <a:t>predictor variable</a:t>
                      </a:r>
                    </a:p>
                  </a:txBody>
                  <a:tcPr/>
                </a:tc>
                <a:tc>
                  <a:txBody>
                    <a:bodyPr/>
                    <a:lstStyle/>
                    <a:p>
                      <a:r>
                        <a:rPr lang="en-US" sz="1400" dirty="0">
                          <a:latin typeface="Abadi" panose="020B0604020104020204" pitchFamily="34" charset="0"/>
                        </a:rPr>
                        <a:t>Numeric</a:t>
                      </a:r>
                    </a:p>
                  </a:txBody>
                  <a:tcPr/>
                </a:tc>
                <a:tc>
                  <a:txBody>
                    <a:bodyPr/>
                    <a:lstStyle/>
                    <a:p>
                      <a:endParaRPr lang="en-US" sz="1400" dirty="0">
                        <a:latin typeface="Abadi" panose="020B0604020104020204" pitchFamily="34" charset="0"/>
                      </a:endParaRPr>
                    </a:p>
                  </a:txBody>
                  <a:tcPr/>
                </a:tc>
                <a:extLst>
                  <a:ext uri="{0D108BD9-81ED-4DB2-BD59-A6C34878D82A}">
                    <a16:rowId xmlns:a16="http://schemas.microsoft.com/office/drawing/2014/main" val="2049882633"/>
                  </a:ext>
                </a:extLst>
              </a:tr>
              <a:tr h="556478">
                <a:tc>
                  <a:txBody>
                    <a:bodyPr/>
                    <a:lstStyle/>
                    <a:p>
                      <a:r>
                        <a:rPr lang="en-US" sz="1400" b="0" i="0" kern="1200" dirty="0" err="1">
                          <a:solidFill>
                            <a:schemeClr val="dk1"/>
                          </a:solidFill>
                          <a:effectLst/>
                          <a:latin typeface="Abadi" panose="020B0604020104020204" pitchFamily="34" charset="0"/>
                          <a:ea typeface="+mn-ea"/>
                          <a:cs typeface="+mn-cs"/>
                        </a:rPr>
                        <a:t>Vehicle_Age</a:t>
                      </a:r>
                      <a:r>
                        <a:rPr lang="en-US" sz="1400" b="0" i="0" kern="1200" dirty="0">
                          <a:solidFill>
                            <a:schemeClr val="dk1"/>
                          </a:solidFill>
                          <a:effectLst/>
                          <a:latin typeface="Abadi" panose="020B0604020104020204" pitchFamily="34" charset="0"/>
                          <a:ea typeface="+mn-ea"/>
                          <a:cs typeface="+mn-cs"/>
                        </a:rPr>
                        <a:t> – </a:t>
                      </a:r>
                      <a:r>
                        <a:rPr lang="en-US" sz="1400" dirty="0">
                          <a:latin typeface="Abadi" panose="020B0604020104020204" pitchFamily="34" charset="0"/>
                        </a:rPr>
                        <a:t>predictor variable</a:t>
                      </a:r>
                    </a:p>
                  </a:txBody>
                  <a:tcPr/>
                </a:tc>
                <a:tc>
                  <a:txBody>
                    <a:bodyPr/>
                    <a:lstStyle/>
                    <a:p>
                      <a:r>
                        <a:rPr lang="en-US" sz="1400" dirty="0">
                          <a:latin typeface="Abadi" panose="020B0604020104020204" pitchFamily="34" charset="0"/>
                        </a:rPr>
                        <a:t>Categorical</a:t>
                      </a:r>
                    </a:p>
                  </a:txBody>
                  <a:tcPr/>
                </a:tc>
                <a:tc>
                  <a:txBody>
                    <a:bodyPr/>
                    <a:lstStyle/>
                    <a:p>
                      <a:r>
                        <a:rPr lang="en-US" sz="1400" b="0" i="0" kern="1200" dirty="0">
                          <a:solidFill>
                            <a:schemeClr val="dk1"/>
                          </a:solidFill>
                          <a:effectLst/>
                          <a:latin typeface="Abadi" panose="020B0604020104020204" pitchFamily="34" charset="0"/>
                          <a:ea typeface="+mn-ea"/>
                          <a:cs typeface="+mn-cs"/>
                        </a:rPr>
                        <a:t>Age of the Vehicle</a:t>
                      </a:r>
                      <a:endParaRPr lang="en-US" sz="1400" dirty="0">
                        <a:latin typeface="Abadi" panose="020B0604020104020204" pitchFamily="34" charset="0"/>
                      </a:endParaRPr>
                    </a:p>
                  </a:txBody>
                  <a:tcPr/>
                </a:tc>
                <a:extLst>
                  <a:ext uri="{0D108BD9-81ED-4DB2-BD59-A6C34878D82A}">
                    <a16:rowId xmlns:a16="http://schemas.microsoft.com/office/drawing/2014/main" val="2961377674"/>
                  </a:ext>
                </a:extLst>
              </a:tr>
              <a:tr h="556478">
                <a:tc>
                  <a:txBody>
                    <a:bodyPr/>
                    <a:lstStyle/>
                    <a:p>
                      <a:r>
                        <a:rPr lang="en-US" sz="1400" b="0" i="0" kern="1200" dirty="0">
                          <a:solidFill>
                            <a:schemeClr val="dk1"/>
                          </a:solidFill>
                          <a:effectLst/>
                          <a:latin typeface="Abadi" panose="020B0604020104020204" pitchFamily="34" charset="0"/>
                          <a:ea typeface="+mn-ea"/>
                          <a:cs typeface="+mn-cs"/>
                        </a:rPr>
                        <a:t>Response – Target Variable</a:t>
                      </a:r>
                      <a:endParaRPr lang="en-US" sz="1400" dirty="0">
                        <a:latin typeface="Abadi" panose="020B0604020104020204" pitchFamily="34" charset="0"/>
                      </a:endParaRPr>
                    </a:p>
                  </a:txBody>
                  <a:tcPr/>
                </a:tc>
                <a:tc>
                  <a:txBody>
                    <a:bodyPr/>
                    <a:lstStyle/>
                    <a:p>
                      <a:r>
                        <a:rPr lang="en-US" sz="1400" dirty="0">
                          <a:latin typeface="Abadi" panose="020B0604020104020204" pitchFamily="34" charset="0"/>
                        </a:rPr>
                        <a:t>Categorical-Binary(0or1)</a:t>
                      </a:r>
                    </a:p>
                  </a:txBody>
                  <a:tcPr/>
                </a:tc>
                <a:tc>
                  <a:txBody>
                    <a:bodyPr/>
                    <a:lstStyle/>
                    <a:p>
                      <a:r>
                        <a:rPr lang="en-US" sz="1400" b="0" i="0" kern="1200" dirty="0">
                          <a:solidFill>
                            <a:schemeClr val="dk1"/>
                          </a:solidFill>
                          <a:effectLst/>
                          <a:latin typeface="Abadi" panose="020B0604020104020204" pitchFamily="34" charset="0"/>
                          <a:ea typeface="+mn-ea"/>
                          <a:cs typeface="+mn-cs"/>
                        </a:rPr>
                        <a:t>1 : Customer is interested, 0 : Customer is not interested</a:t>
                      </a:r>
                      <a:endParaRPr lang="en-US" sz="1400" dirty="0">
                        <a:latin typeface="Abadi" panose="020B0604020104020204" pitchFamily="34" charset="0"/>
                      </a:endParaRPr>
                    </a:p>
                  </a:txBody>
                  <a:tcPr/>
                </a:tc>
                <a:extLst>
                  <a:ext uri="{0D108BD9-81ED-4DB2-BD59-A6C34878D82A}">
                    <a16:rowId xmlns:a16="http://schemas.microsoft.com/office/drawing/2014/main" val="1755588396"/>
                  </a:ext>
                </a:extLst>
              </a:tr>
            </a:tbl>
          </a:graphicData>
        </a:graphic>
      </p:graphicFrame>
    </p:spTree>
    <p:extLst>
      <p:ext uri="{BB962C8B-B14F-4D97-AF65-F5344CB8AC3E}">
        <p14:creationId xmlns:p14="http://schemas.microsoft.com/office/powerpoint/2010/main" val="36486485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DC95B-0752-73EC-ADBE-B62333F6A5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761727-E411-E63E-570B-96C2A26B4E3F}"/>
              </a:ext>
            </a:extLst>
          </p:cNvPr>
          <p:cNvSpPr>
            <a:spLocks noGrp="1"/>
          </p:cNvSpPr>
          <p:nvPr>
            <p:ph type="title"/>
          </p:nvPr>
        </p:nvSpPr>
        <p:spPr>
          <a:xfrm>
            <a:off x="581193" y="729658"/>
            <a:ext cx="11029616" cy="988332"/>
          </a:xfrm>
        </p:spPr>
        <p:txBody>
          <a:bodyPr anchor="b">
            <a:normAutofit/>
          </a:bodyPr>
          <a:lstStyle/>
          <a:p>
            <a:r>
              <a:rPr lang="en-US" b="1" dirty="0">
                <a:latin typeface="Calibri" panose="020F0502020204030204" pitchFamily="34" charset="0"/>
                <a:ea typeface="Calibri" panose="020F0502020204030204" pitchFamily="34" charset="0"/>
                <a:cs typeface="Calibri" panose="020F0502020204030204" pitchFamily="34" charset="0"/>
              </a:rPr>
              <a:t>Research methodology</a:t>
            </a:r>
            <a:br>
              <a:rPr lang="en-US" b="1" dirty="0">
                <a:solidFill>
                  <a:srgbClr val="FB9205"/>
                </a:solidFill>
                <a:latin typeface="Calibri" panose="020F0502020204030204" pitchFamily="34" charset="0"/>
                <a:ea typeface="Calibri" panose="020F0502020204030204" pitchFamily="34" charset="0"/>
                <a:cs typeface="Calibri" panose="020F0502020204030204" pitchFamily="34" charset="0"/>
              </a:rPr>
            </a:br>
            <a:endParaRPr lang="en-US" sz="1600" dirty="0"/>
          </a:p>
        </p:txBody>
      </p:sp>
      <p:sp>
        <p:nvSpPr>
          <p:cNvPr id="4" name="TextBox 3">
            <a:extLst>
              <a:ext uri="{FF2B5EF4-FFF2-40B4-BE49-F238E27FC236}">
                <a16:creationId xmlns:a16="http://schemas.microsoft.com/office/drawing/2014/main" id="{3550384D-CDED-E7C5-D408-CA659AB7D631}"/>
              </a:ext>
            </a:extLst>
          </p:cNvPr>
          <p:cNvSpPr txBox="1"/>
          <p:nvPr/>
        </p:nvSpPr>
        <p:spPr>
          <a:xfrm>
            <a:off x="338667" y="2116667"/>
            <a:ext cx="11700933" cy="3139321"/>
          </a:xfrm>
          <a:prstGeom prst="rect">
            <a:avLst/>
          </a:prstGeom>
          <a:noFill/>
        </p:spPr>
        <p:txBody>
          <a:bodyPr wrap="square" rtlCol="0">
            <a:spAutoFit/>
          </a:bodyPr>
          <a:lstStyle/>
          <a:p>
            <a:endParaRPr lang="en-US" dirty="0"/>
          </a:p>
          <a:p>
            <a:pPr marL="285750" indent="-285750">
              <a:buFont typeface="Wingdings" panose="05000000000000000000" pitchFamily="2" charset="2"/>
              <a:buChar char="v"/>
            </a:pPr>
            <a:r>
              <a:rPr lang="en-US" dirty="0"/>
              <a:t>The research follows a structured process, starting with data collection from </a:t>
            </a:r>
            <a:r>
              <a:rPr lang="en-US" b="1" dirty="0"/>
              <a:t>“Kaggle</a:t>
            </a:r>
            <a:r>
              <a:rPr lang="en-US" dirty="0"/>
              <a:t>”. The dataset contains information for insurance customers, including demographic characteristics, vehicle information, and insurance history. </a:t>
            </a:r>
          </a:p>
          <a:p>
            <a:pPr marL="285750" indent="-285750">
              <a:buFont typeface="Wingdings" panose="05000000000000000000" pitchFamily="2" charset="2"/>
              <a:buChar char="v"/>
            </a:pPr>
            <a:endParaRPr lang="en-US" dirty="0"/>
          </a:p>
          <a:p>
            <a:pPr marL="285750" indent="-285750">
              <a:buFont typeface="Wingdings" panose="05000000000000000000" pitchFamily="2" charset="2"/>
              <a:buChar char="v"/>
            </a:pPr>
            <a:r>
              <a:rPr lang="en-US" dirty="0"/>
              <a:t>These predictor variables are used to predict whether a customer will purchase vehicle insurance.</a:t>
            </a:r>
          </a:p>
          <a:p>
            <a:pPr marL="285750" indent="-285750">
              <a:buFont typeface="Wingdings" panose="05000000000000000000" pitchFamily="2" charset="2"/>
              <a:buChar char="v"/>
            </a:pPr>
            <a:endParaRPr lang="en-US" dirty="0"/>
          </a:p>
          <a:p>
            <a:pPr marL="285750" indent="-285750">
              <a:buFont typeface="Wingdings" panose="05000000000000000000" pitchFamily="2" charset="2"/>
              <a:buChar char="v"/>
            </a:pPr>
            <a:r>
              <a:rPr lang="en-US" dirty="0"/>
              <a:t>The dataset will undergo </a:t>
            </a:r>
            <a:r>
              <a:rPr lang="en-US" b="1" dirty="0"/>
              <a:t>EDA </a:t>
            </a:r>
            <a:r>
              <a:rPr lang="en-US" dirty="0"/>
              <a:t>(exploratory data analysis), preprocessing, including feature selection and data cleaning to ensure reliability, consistency and accuracy.</a:t>
            </a:r>
          </a:p>
          <a:p>
            <a:pPr marL="285750" indent="-285750">
              <a:buFont typeface="Wingdings" panose="05000000000000000000" pitchFamily="2" charset="2"/>
              <a:buChar char="v"/>
            </a:pPr>
            <a:endParaRPr lang="en-US" dirty="0"/>
          </a:p>
          <a:p>
            <a:pPr marL="285750" indent="-285750">
              <a:buFont typeface="Wingdings" panose="05000000000000000000" pitchFamily="2" charset="2"/>
              <a:buChar char="v"/>
            </a:pPr>
            <a:r>
              <a:rPr lang="en-US" dirty="0"/>
              <a:t>The core of this study involves using 2 traditional models – </a:t>
            </a:r>
            <a:r>
              <a:rPr lang="en-US" b="1" dirty="0"/>
              <a:t>Logistic Regression &amp; Probit Regression </a:t>
            </a:r>
            <a:r>
              <a:rPr lang="en-US" dirty="0"/>
              <a:t>vs 2 Machine Learning models – </a:t>
            </a:r>
            <a:r>
              <a:rPr lang="en-US" b="1" dirty="0"/>
              <a:t>Random Forest &amp; X-</a:t>
            </a:r>
            <a:r>
              <a:rPr lang="en-US" b="1" dirty="0" err="1"/>
              <a:t>GBoost</a:t>
            </a:r>
            <a:r>
              <a:rPr lang="en-US" b="1" dirty="0"/>
              <a:t> </a:t>
            </a:r>
            <a:r>
              <a:rPr lang="en-US" dirty="0"/>
              <a:t>on the prepared dataset.</a:t>
            </a:r>
          </a:p>
        </p:txBody>
      </p:sp>
    </p:spTree>
    <p:extLst>
      <p:ext uri="{BB962C8B-B14F-4D97-AF65-F5344CB8AC3E}">
        <p14:creationId xmlns:p14="http://schemas.microsoft.com/office/powerpoint/2010/main" val="26519180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B7B08-12EF-321F-4F43-021FCC4402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F7222C-0DC0-A649-1A02-385FEAAC1D39}"/>
              </a:ext>
            </a:extLst>
          </p:cNvPr>
          <p:cNvSpPr>
            <a:spLocks noGrp="1"/>
          </p:cNvSpPr>
          <p:nvPr>
            <p:ph type="title"/>
          </p:nvPr>
        </p:nvSpPr>
        <p:spPr>
          <a:xfrm>
            <a:off x="581193" y="729658"/>
            <a:ext cx="11029616" cy="988332"/>
          </a:xfrm>
        </p:spPr>
        <p:txBody>
          <a:bodyPr anchor="b">
            <a:normAutofit fontScale="90000"/>
          </a:bodyPr>
          <a:lstStyle/>
          <a:p>
            <a:r>
              <a:rPr lang="en-US" b="1" dirty="0">
                <a:latin typeface="Calibri" panose="020F0502020204030204" pitchFamily="34" charset="0"/>
                <a:ea typeface="Calibri" panose="020F0502020204030204" pitchFamily="34" charset="0"/>
                <a:cs typeface="Calibri" panose="020F0502020204030204" pitchFamily="34" charset="0"/>
              </a:rPr>
              <a:t>Research methodology </a:t>
            </a:r>
            <a:br>
              <a:rPr lang="en-US" b="1" dirty="0">
                <a:latin typeface="Calibri" panose="020F0502020204030204" pitchFamily="34" charset="0"/>
                <a:ea typeface="Calibri" panose="020F0502020204030204" pitchFamily="34" charset="0"/>
                <a:cs typeface="Calibri" panose="020F0502020204030204" pitchFamily="34" charset="0"/>
              </a:rPr>
            </a:br>
            <a:r>
              <a:rPr lang="en-US" b="1" dirty="0">
                <a:solidFill>
                  <a:srgbClr val="FB9205"/>
                </a:solidFill>
                <a:latin typeface="Calibri" panose="020F0502020204030204" pitchFamily="34" charset="0"/>
                <a:ea typeface="Calibri" panose="020F0502020204030204" pitchFamily="34" charset="0"/>
                <a:cs typeface="Calibri" panose="020F0502020204030204" pitchFamily="34" charset="0"/>
              </a:rPr>
              <a:t>Exploratory Data analysis</a:t>
            </a:r>
            <a:br>
              <a:rPr lang="en-US" b="1" dirty="0">
                <a:solidFill>
                  <a:srgbClr val="FB9205"/>
                </a:solidFill>
                <a:latin typeface="Calibri" panose="020F0502020204030204" pitchFamily="34" charset="0"/>
                <a:ea typeface="Calibri" panose="020F0502020204030204" pitchFamily="34" charset="0"/>
                <a:cs typeface="Calibri" panose="020F0502020204030204" pitchFamily="34" charset="0"/>
              </a:rPr>
            </a:br>
            <a:endParaRPr lang="en-US" sz="1600" dirty="0"/>
          </a:p>
        </p:txBody>
      </p:sp>
      <p:sp>
        <p:nvSpPr>
          <p:cNvPr id="4" name="TextBox 3">
            <a:extLst>
              <a:ext uri="{FF2B5EF4-FFF2-40B4-BE49-F238E27FC236}">
                <a16:creationId xmlns:a16="http://schemas.microsoft.com/office/drawing/2014/main" id="{EC9FC4EC-6B26-29F7-FC6D-D21A1700AFBC}"/>
              </a:ext>
            </a:extLst>
          </p:cNvPr>
          <p:cNvSpPr txBox="1"/>
          <p:nvPr/>
        </p:nvSpPr>
        <p:spPr>
          <a:xfrm>
            <a:off x="1622522" y="1931940"/>
            <a:ext cx="11700933" cy="369332"/>
          </a:xfrm>
          <a:prstGeom prst="rect">
            <a:avLst/>
          </a:prstGeom>
          <a:noFill/>
        </p:spPr>
        <p:txBody>
          <a:bodyPr wrap="square" rtlCol="0">
            <a:spAutoFit/>
          </a:bodyPr>
          <a:lstStyle/>
          <a:p>
            <a:r>
              <a:rPr lang="en-US" b="1" dirty="0"/>
              <a:t>Boxplots showing relationship between target outcome and quantitative features</a:t>
            </a:r>
          </a:p>
        </p:txBody>
      </p:sp>
      <p:pic>
        <p:nvPicPr>
          <p:cNvPr id="7" name="Picture 6">
            <a:extLst>
              <a:ext uri="{FF2B5EF4-FFF2-40B4-BE49-F238E27FC236}">
                <a16:creationId xmlns:a16="http://schemas.microsoft.com/office/drawing/2014/main" id="{3832E116-90BC-EF7E-CD42-5ABBFF9D91A9}"/>
              </a:ext>
            </a:extLst>
          </p:cNvPr>
          <p:cNvPicPr>
            <a:picLocks noChangeAspect="1"/>
          </p:cNvPicPr>
          <p:nvPr/>
        </p:nvPicPr>
        <p:blipFill>
          <a:blip r:embed="rId3"/>
          <a:stretch>
            <a:fillRect/>
          </a:stretch>
        </p:blipFill>
        <p:spPr>
          <a:xfrm>
            <a:off x="465024" y="2301271"/>
            <a:ext cx="5594870" cy="4318603"/>
          </a:xfrm>
          <a:prstGeom prst="rect">
            <a:avLst/>
          </a:prstGeom>
        </p:spPr>
      </p:pic>
      <p:pic>
        <p:nvPicPr>
          <p:cNvPr id="9" name="Picture 8">
            <a:extLst>
              <a:ext uri="{FF2B5EF4-FFF2-40B4-BE49-F238E27FC236}">
                <a16:creationId xmlns:a16="http://schemas.microsoft.com/office/drawing/2014/main" id="{D5697A9E-9A14-5B70-2CBE-EE0C138C7CDC}"/>
              </a:ext>
            </a:extLst>
          </p:cNvPr>
          <p:cNvPicPr>
            <a:picLocks noChangeAspect="1"/>
          </p:cNvPicPr>
          <p:nvPr/>
        </p:nvPicPr>
        <p:blipFill>
          <a:blip r:embed="rId4"/>
          <a:stretch>
            <a:fillRect/>
          </a:stretch>
        </p:blipFill>
        <p:spPr>
          <a:xfrm>
            <a:off x="5982508" y="2301269"/>
            <a:ext cx="5686353" cy="4318603"/>
          </a:xfrm>
          <a:prstGeom prst="rect">
            <a:avLst/>
          </a:prstGeom>
        </p:spPr>
      </p:pic>
    </p:spTree>
    <p:extLst>
      <p:ext uri="{BB962C8B-B14F-4D97-AF65-F5344CB8AC3E}">
        <p14:creationId xmlns:p14="http://schemas.microsoft.com/office/powerpoint/2010/main" val="41621837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FB97F1-0C0A-C614-CB41-9916A173A5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165D3B-BA34-1503-5328-B314CD53B03E}"/>
              </a:ext>
            </a:extLst>
          </p:cNvPr>
          <p:cNvSpPr>
            <a:spLocks noGrp="1"/>
          </p:cNvSpPr>
          <p:nvPr>
            <p:ph type="title"/>
          </p:nvPr>
        </p:nvSpPr>
        <p:spPr>
          <a:xfrm>
            <a:off x="581193" y="729658"/>
            <a:ext cx="11029616" cy="988332"/>
          </a:xfrm>
        </p:spPr>
        <p:txBody>
          <a:bodyPr anchor="b">
            <a:normAutofit fontScale="90000"/>
          </a:bodyPr>
          <a:lstStyle/>
          <a:p>
            <a:r>
              <a:rPr lang="en-US" b="1" dirty="0">
                <a:latin typeface="Calibri" panose="020F0502020204030204" pitchFamily="34" charset="0"/>
                <a:ea typeface="Calibri" panose="020F0502020204030204" pitchFamily="34" charset="0"/>
                <a:cs typeface="Calibri" panose="020F0502020204030204" pitchFamily="34" charset="0"/>
              </a:rPr>
              <a:t>Research methodology </a:t>
            </a:r>
            <a:br>
              <a:rPr lang="en-US" b="1" dirty="0">
                <a:latin typeface="Calibri" panose="020F0502020204030204" pitchFamily="34" charset="0"/>
                <a:ea typeface="Calibri" panose="020F0502020204030204" pitchFamily="34" charset="0"/>
                <a:cs typeface="Calibri" panose="020F0502020204030204" pitchFamily="34" charset="0"/>
              </a:rPr>
            </a:br>
            <a:r>
              <a:rPr lang="en-US" b="1" dirty="0">
                <a:solidFill>
                  <a:srgbClr val="FB9205"/>
                </a:solidFill>
                <a:latin typeface="Calibri" panose="020F0502020204030204" pitchFamily="34" charset="0"/>
                <a:ea typeface="Calibri" panose="020F0502020204030204" pitchFamily="34" charset="0"/>
                <a:cs typeface="Calibri" panose="020F0502020204030204" pitchFamily="34" charset="0"/>
              </a:rPr>
              <a:t>Exploratory Data analysis</a:t>
            </a:r>
            <a:br>
              <a:rPr lang="en-US" b="1" dirty="0">
                <a:solidFill>
                  <a:srgbClr val="FB9205"/>
                </a:solidFill>
                <a:latin typeface="Calibri" panose="020F0502020204030204" pitchFamily="34" charset="0"/>
                <a:ea typeface="Calibri" panose="020F0502020204030204" pitchFamily="34" charset="0"/>
                <a:cs typeface="Calibri" panose="020F0502020204030204" pitchFamily="34" charset="0"/>
              </a:rPr>
            </a:br>
            <a:endParaRPr lang="en-US" sz="1600" dirty="0"/>
          </a:p>
        </p:txBody>
      </p:sp>
      <p:sp>
        <p:nvSpPr>
          <p:cNvPr id="4" name="TextBox 3">
            <a:extLst>
              <a:ext uri="{FF2B5EF4-FFF2-40B4-BE49-F238E27FC236}">
                <a16:creationId xmlns:a16="http://schemas.microsoft.com/office/drawing/2014/main" id="{C562AF3F-CCA5-350B-81EA-A9B5C031C96A}"/>
              </a:ext>
            </a:extLst>
          </p:cNvPr>
          <p:cNvSpPr txBox="1"/>
          <p:nvPr/>
        </p:nvSpPr>
        <p:spPr>
          <a:xfrm>
            <a:off x="795937" y="1931940"/>
            <a:ext cx="11700933" cy="369332"/>
          </a:xfrm>
          <a:prstGeom prst="rect">
            <a:avLst/>
          </a:prstGeom>
          <a:noFill/>
        </p:spPr>
        <p:txBody>
          <a:bodyPr wrap="square" rtlCol="0">
            <a:spAutoFit/>
          </a:bodyPr>
          <a:lstStyle/>
          <a:p>
            <a:r>
              <a:rPr lang="en-US" b="1" dirty="0"/>
              <a:t>Side by side </a:t>
            </a:r>
            <a:r>
              <a:rPr lang="en-US" b="1" dirty="0" err="1"/>
              <a:t>Barcharts</a:t>
            </a:r>
            <a:r>
              <a:rPr lang="en-US" b="1" dirty="0"/>
              <a:t> showing relationship between target outcome and categorical features</a:t>
            </a:r>
          </a:p>
        </p:txBody>
      </p:sp>
      <p:pic>
        <p:nvPicPr>
          <p:cNvPr id="5" name="Picture 4">
            <a:extLst>
              <a:ext uri="{FF2B5EF4-FFF2-40B4-BE49-F238E27FC236}">
                <a16:creationId xmlns:a16="http://schemas.microsoft.com/office/drawing/2014/main" id="{2D7C3FB4-FED4-B6DD-72AB-80874BC527CA}"/>
              </a:ext>
            </a:extLst>
          </p:cNvPr>
          <p:cNvPicPr>
            <a:picLocks noChangeAspect="1"/>
          </p:cNvPicPr>
          <p:nvPr/>
        </p:nvPicPr>
        <p:blipFill>
          <a:blip r:embed="rId3"/>
          <a:stretch>
            <a:fillRect/>
          </a:stretch>
        </p:blipFill>
        <p:spPr>
          <a:xfrm>
            <a:off x="733592" y="2415572"/>
            <a:ext cx="6105357" cy="4194778"/>
          </a:xfrm>
          <a:prstGeom prst="rect">
            <a:avLst/>
          </a:prstGeom>
        </p:spPr>
      </p:pic>
      <p:sp>
        <p:nvSpPr>
          <p:cNvPr id="8" name="TextBox 7">
            <a:extLst>
              <a:ext uri="{FF2B5EF4-FFF2-40B4-BE49-F238E27FC236}">
                <a16:creationId xmlns:a16="http://schemas.microsoft.com/office/drawing/2014/main" id="{9DD6B860-7667-6885-4855-A672CC0BFB1E}"/>
              </a:ext>
            </a:extLst>
          </p:cNvPr>
          <p:cNvSpPr txBox="1"/>
          <p:nvPr/>
        </p:nvSpPr>
        <p:spPr>
          <a:xfrm>
            <a:off x="6789427" y="3140363"/>
            <a:ext cx="5023882" cy="2031325"/>
          </a:xfrm>
          <a:prstGeom prst="rect">
            <a:avLst/>
          </a:prstGeom>
          <a:noFill/>
        </p:spPr>
        <p:txBody>
          <a:bodyPr wrap="square" rtlCol="0">
            <a:spAutoFit/>
          </a:bodyPr>
          <a:lstStyle/>
          <a:p>
            <a:r>
              <a:rPr lang="en-US" b="1" dirty="0"/>
              <a:t>Insurance Customer Interest rates</a:t>
            </a:r>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r>
              <a:rPr lang="en-US" dirty="0"/>
              <a:t>&lt;1year = 7202 /(7202+157584) = 4.37%</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1-2years = 34806/(34806+165510) = 17.38%</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&gt;2years = 4702/(4702+11305) = 29.37%</a:t>
            </a:r>
          </a:p>
        </p:txBody>
      </p:sp>
    </p:spTree>
    <p:extLst>
      <p:ext uri="{BB962C8B-B14F-4D97-AF65-F5344CB8AC3E}">
        <p14:creationId xmlns:p14="http://schemas.microsoft.com/office/powerpoint/2010/main" val="20494443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F093FD-91D6-3E0B-9F14-4B9446D101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F35E89-618B-20A8-1F1C-CD7B5BE9C925}"/>
              </a:ext>
            </a:extLst>
          </p:cNvPr>
          <p:cNvSpPr>
            <a:spLocks noGrp="1"/>
          </p:cNvSpPr>
          <p:nvPr>
            <p:ph type="title"/>
          </p:nvPr>
        </p:nvSpPr>
        <p:spPr>
          <a:xfrm>
            <a:off x="581193" y="729658"/>
            <a:ext cx="11029616" cy="988332"/>
          </a:xfrm>
        </p:spPr>
        <p:txBody>
          <a:bodyPr anchor="b">
            <a:normAutofit fontScale="90000"/>
          </a:bodyPr>
          <a:lstStyle/>
          <a:p>
            <a:r>
              <a:rPr lang="en-US" b="1" dirty="0">
                <a:latin typeface="Calibri" panose="020F0502020204030204" pitchFamily="34" charset="0"/>
                <a:ea typeface="Calibri" panose="020F0502020204030204" pitchFamily="34" charset="0"/>
                <a:cs typeface="Calibri" panose="020F0502020204030204" pitchFamily="34" charset="0"/>
              </a:rPr>
              <a:t>Research methodology </a:t>
            </a:r>
            <a:br>
              <a:rPr lang="en-US" b="1" dirty="0">
                <a:latin typeface="Calibri" panose="020F0502020204030204" pitchFamily="34" charset="0"/>
                <a:ea typeface="Calibri" panose="020F0502020204030204" pitchFamily="34" charset="0"/>
                <a:cs typeface="Calibri" panose="020F0502020204030204" pitchFamily="34" charset="0"/>
              </a:rPr>
            </a:br>
            <a:r>
              <a:rPr lang="en-US" b="1" dirty="0">
                <a:solidFill>
                  <a:srgbClr val="FB9205"/>
                </a:solidFill>
                <a:latin typeface="Calibri" panose="020F0502020204030204" pitchFamily="34" charset="0"/>
                <a:ea typeface="Calibri" panose="020F0502020204030204" pitchFamily="34" charset="0"/>
                <a:cs typeface="Calibri" panose="020F0502020204030204" pitchFamily="34" charset="0"/>
              </a:rPr>
              <a:t>Exploratory Data analysis</a:t>
            </a:r>
            <a:br>
              <a:rPr lang="en-US" b="1" dirty="0">
                <a:solidFill>
                  <a:srgbClr val="FB9205"/>
                </a:solidFill>
                <a:latin typeface="Calibri" panose="020F0502020204030204" pitchFamily="34" charset="0"/>
                <a:ea typeface="Calibri" panose="020F0502020204030204" pitchFamily="34" charset="0"/>
                <a:cs typeface="Calibri" panose="020F0502020204030204" pitchFamily="34" charset="0"/>
              </a:rPr>
            </a:br>
            <a:endParaRPr lang="en-US" sz="1600" dirty="0"/>
          </a:p>
        </p:txBody>
      </p:sp>
      <p:sp>
        <p:nvSpPr>
          <p:cNvPr id="10" name="TextBox 9">
            <a:extLst>
              <a:ext uri="{FF2B5EF4-FFF2-40B4-BE49-F238E27FC236}">
                <a16:creationId xmlns:a16="http://schemas.microsoft.com/office/drawing/2014/main" id="{E1BCCEAF-B1AB-29C9-3D32-0EE1D700FD97}"/>
              </a:ext>
            </a:extLst>
          </p:cNvPr>
          <p:cNvSpPr txBox="1"/>
          <p:nvPr/>
        </p:nvSpPr>
        <p:spPr>
          <a:xfrm>
            <a:off x="5957456" y="3038762"/>
            <a:ext cx="6031344" cy="1754326"/>
          </a:xfrm>
          <a:prstGeom prst="rect">
            <a:avLst/>
          </a:prstGeom>
          <a:noFill/>
        </p:spPr>
        <p:txBody>
          <a:bodyPr wrap="square" rtlCol="0">
            <a:spAutoFit/>
          </a:bodyPr>
          <a:lstStyle/>
          <a:p>
            <a:r>
              <a:rPr lang="en-US" b="1" dirty="0"/>
              <a:t>Insurance Customer Interest Rates</a:t>
            </a:r>
          </a:p>
          <a:p>
            <a:endParaRPr lang="en-US" dirty="0"/>
          </a:p>
          <a:p>
            <a:pPr marL="285750" indent="-285750">
              <a:buFont typeface="Arial" panose="020B0604020202020204" pitchFamily="34" charset="0"/>
              <a:buChar char="•"/>
            </a:pPr>
            <a:r>
              <a:rPr lang="en-US" dirty="0"/>
              <a:t>Previously insured = 158 / (158+174470) = 0.09%</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Not previously insured = 46552 / (46552+159929) = 22.55%</a:t>
            </a:r>
          </a:p>
        </p:txBody>
      </p:sp>
      <p:pic>
        <p:nvPicPr>
          <p:cNvPr id="5" name="Picture 4">
            <a:extLst>
              <a:ext uri="{FF2B5EF4-FFF2-40B4-BE49-F238E27FC236}">
                <a16:creationId xmlns:a16="http://schemas.microsoft.com/office/drawing/2014/main" id="{970BB346-C1E3-E1B5-3E2A-E4E42AE64A79}"/>
              </a:ext>
            </a:extLst>
          </p:cNvPr>
          <p:cNvPicPr>
            <a:picLocks noChangeAspect="1"/>
          </p:cNvPicPr>
          <p:nvPr/>
        </p:nvPicPr>
        <p:blipFill>
          <a:blip r:embed="rId3"/>
          <a:stretch>
            <a:fillRect/>
          </a:stretch>
        </p:blipFill>
        <p:spPr>
          <a:xfrm>
            <a:off x="203200" y="2364017"/>
            <a:ext cx="5587355" cy="4304145"/>
          </a:xfrm>
          <a:prstGeom prst="rect">
            <a:avLst/>
          </a:prstGeom>
        </p:spPr>
      </p:pic>
    </p:spTree>
    <p:extLst>
      <p:ext uri="{BB962C8B-B14F-4D97-AF65-F5344CB8AC3E}">
        <p14:creationId xmlns:p14="http://schemas.microsoft.com/office/powerpoint/2010/main" val="11023618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760272-B2EA-188A-AF7E-8882C24C22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754D0E-EFC2-9DB8-02C1-8538D4AA7460}"/>
              </a:ext>
            </a:extLst>
          </p:cNvPr>
          <p:cNvSpPr>
            <a:spLocks noGrp="1"/>
          </p:cNvSpPr>
          <p:nvPr>
            <p:ph type="title"/>
          </p:nvPr>
        </p:nvSpPr>
        <p:spPr>
          <a:xfrm>
            <a:off x="581193" y="729658"/>
            <a:ext cx="11029616" cy="988332"/>
          </a:xfrm>
        </p:spPr>
        <p:txBody>
          <a:bodyPr anchor="b">
            <a:normAutofit fontScale="90000"/>
          </a:bodyPr>
          <a:lstStyle/>
          <a:p>
            <a:r>
              <a:rPr lang="en-US" b="1" dirty="0">
                <a:latin typeface="Calibri" panose="020F0502020204030204" pitchFamily="34" charset="0"/>
                <a:ea typeface="Calibri" panose="020F0502020204030204" pitchFamily="34" charset="0"/>
                <a:cs typeface="Calibri" panose="020F0502020204030204" pitchFamily="34" charset="0"/>
              </a:rPr>
              <a:t>Research methodology </a:t>
            </a:r>
            <a:br>
              <a:rPr lang="en-US" b="1" dirty="0">
                <a:latin typeface="Calibri" panose="020F0502020204030204" pitchFamily="34" charset="0"/>
                <a:ea typeface="Calibri" panose="020F0502020204030204" pitchFamily="34" charset="0"/>
                <a:cs typeface="Calibri" panose="020F0502020204030204" pitchFamily="34" charset="0"/>
              </a:rPr>
            </a:br>
            <a:r>
              <a:rPr lang="en-US" b="1" dirty="0">
                <a:solidFill>
                  <a:srgbClr val="FB9205"/>
                </a:solidFill>
                <a:latin typeface="Calibri" panose="020F0502020204030204" pitchFamily="34" charset="0"/>
                <a:ea typeface="Calibri" panose="020F0502020204030204" pitchFamily="34" charset="0"/>
                <a:cs typeface="Calibri" panose="020F0502020204030204" pitchFamily="34" charset="0"/>
              </a:rPr>
              <a:t>Exploratory Data analysis</a:t>
            </a:r>
            <a:br>
              <a:rPr lang="en-US" b="1" dirty="0">
                <a:solidFill>
                  <a:srgbClr val="FB9205"/>
                </a:solidFill>
                <a:latin typeface="Calibri" panose="020F0502020204030204" pitchFamily="34" charset="0"/>
                <a:ea typeface="Calibri" panose="020F0502020204030204" pitchFamily="34" charset="0"/>
                <a:cs typeface="Calibri" panose="020F0502020204030204" pitchFamily="34" charset="0"/>
              </a:rPr>
            </a:br>
            <a:endParaRPr lang="en-US" sz="1600" dirty="0"/>
          </a:p>
        </p:txBody>
      </p:sp>
      <p:sp>
        <p:nvSpPr>
          <p:cNvPr id="10" name="TextBox 9">
            <a:extLst>
              <a:ext uri="{FF2B5EF4-FFF2-40B4-BE49-F238E27FC236}">
                <a16:creationId xmlns:a16="http://schemas.microsoft.com/office/drawing/2014/main" id="{DF773898-290B-57B1-3C08-AD82C5DBAE76}"/>
              </a:ext>
            </a:extLst>
          </p:cNvPr>
          <p:cNvSpPr txBox="1"/>
          <p:nvPr/>
        </p:nvSpPr>
        <p:spPr>
          <a:xfrm>
            <a:off x="5957456" y="3038762"/>
            <a:ext cx="6031344" cy="1477328"/>
          </a:xfrm>
          <a:prstGeom prst="rect">
            <a:avLst/>
          </a:prstGeom>
          <a:noFill/>
        </p:spPr>
        <p:txBody>
          <a:bodyPr wrap="square" rtlCol="0">
            <a:spAutoFit/>
          </a:bodyPr>
          <a:lstStyle/>
          <a:p>
            <a:r>
              <a:rPr lang="en-US" b="1" dirty="0"/>
              <a:t>Insurance Customer Interest Rates</a:t>
            </a:r>
          </a:p>
          <a:p>
            <a:endParaRPr lang="en-US" dirty="0"/>
          </a:p>
          <a:p>
            <a:pPr marL="285750" indent="-285750">
              <a:buFont typeface="Arial" panose="020B0604020202020204" pitchFamily="34" charset="0"/>
              <a:buChar char="•"/>
            </a:pPr>
            <a:r>
              <a:rPr lang="en-US" dirty="0"/>
              <a:t>License = 41 / (41+771) = 5.05%</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No license = 46669 / (46669+333628) = 12.27%</a:t>
            </a:r>
          </a:p>
        </p:txBody>
      </p:sp>
      <p:pic>
        <p:nvPicPr>
          <p:cNvPr id="11" name="Picture 10">
            <a:extLst>
              <a:ext uri="{FF2B5EF4-FFF2-40B4-BE49-F238E27FC236}">
                <a16:creationId xmlns:a16="http://schemas.microsoft.com/office/drawing/2014/main" id="{7C0FE3B0-FB49-0C3C-7E01-BDC331789CCE}"/>
              </a:ext>
            </a:extLst>
          </p:cNvPr>
          <p:cNvPicPr>
            <a:picLocks noChangeAspect="1"/>
          </p:cNvPicPr>
          <p:nvPr/>
        </p:nvPicPr>
        <p:blipFill>
          <a:blip r:embed="rId3"/>
          <a:stretch>
            <a:fillRect/>
          </a:stretch>
        </p:blipFill>
        <p:spPr>
          <a:xfrm>
            <a:off x="581193" y="2618883"/>
            <a:ext cx="5218072" cy="3794413"/>
          </a:xfrm>
          <a:prstGeom prst="rect">
            <a:avLst/>
          </a:prstGeom>
        </p:spPr>
      </p:pic>
    </p:spTree>
    <p:extLst>
      <p:ext uri="{BB962C8B-B14F-4D97-AF65-F5344CB8AC3E}">
        <p14:creationId xmlns:p14="http://schemas.microsoft.com/office/powerpoint/2010/main" val="16798244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67F020-D99F-1298-E4BA-069A1FD737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B8C54D-533C-2317-2D2E-0D5F2015AB0D}"/>
              </a:ext>
            </a:extLst>
          </p:cNvPr>
          <p:cNvSpPr>
            <a:spLocks noGrp="1"/>
          </p:cNvSpPr>
          <p:nvPr>
            <p:ph type="title"/>
          </p:nvPr>
        </p:nvSpPr>
        <p:spPr>
          <a:xfrm>
            <a:off x="581193" y="729658"/>
            <a:ext cx="11029616" cy="988332"/>
          </a:xfrm>
        </p:spPr>
        <p:txBody>
          <a:bodyPr anchor="b">
            <a:normAutofit fontScale="90000"/>
          </a:bodyPr>
          <a:lstStyle/>
          <a:p>
            <a:r>
              <a:rPr lang="en-US" b="1" dirty="0">
                <a:latin typeface="Calibri" panose="020F0502020204030204" pitchFamily="34" charset="0"/>
                <a:ea typeface="Calibri" panose="020F0502020204030204" pitchFamily="34" charset="0"/>
                <a:cs typeface="Calibri" panose="020F0502020204030204" pitchFamily="34" charset="0"/>
              </a:rPr>
              <a:t>Research methodology </a:t>
            </a:r>
            <a:br>
              <a:rPr lang="en-US" b="1" dirty="0">
                <a:latin typeface="Calibri" panose="020F0502020204030204" pitchFamily="34" charset="0"/>
                <a:ea typeface="Calibri" panose="020F0502020204030204" pitchFamily="34" charset="0"/>
                <a:cs typeface="Calibri" panose="020F0502020204030204" pitchFamily="34" charset="0"/>
              </a:rPr>
            </a:br>
            <a:r>
              <a:rPr lang="en-US" b="1" dirty="0">
                <a:solidFill>
                  <a:srgbClr val="FB9205"/>
                </a:solidFill>
                <a:latin typeface="Calibri" panose="020F0502020204030204" pitchFamily="34" charset="0"/>
                <a:ea typeface="Calibri" panose="020F0502020204030204" pitchFamily="34" charset="0"/>
                <a:cs typeface="Calibri" panose="020F0502020204030204" pitchFamily="34" charset="0"/>
              </a:rPr>
              <a:t>Exploratory Data analysis</a:t>
            </a:r>
            <a:br>
              <a:rPr lang="en-US" b="1" dirty="0">
                <a:solidFill>
                  <a:srgbClr val="FB9205"/>
                </a:solidFill>
                <a:latin typeface="Calibri" panose="020F0502020204030204" pitchFamily="34" charset="0"/>
                <a:ea typeface="Calibri" panose="020F0502020204030204" pitchFamily="34" charset="0"/>
                <a:cs typeface="Calibri" panose="020F0502020204030204" pitchFamily="34" charset="0"/>
              </a:rPr>
            </a:br>
            <a:endParaRPr lang="en-US" sz="1600" dirty="0"/>
          </a:p>
        </p:txBody>
      </p:sp>
      <p:sp>
        <p:nvSpPr>
          <p:cNvPr id="4" name="TextBox 3">
            <a:extLst>
              <a:ext uri="{FF2B5EF4-FFF2-40B4-BE49-F238E27FC236}">
                <a16:creationId xmlns:a16="http://schemas.microsoft.com/office/drawing/2014/main" id="{660756D3-772B-557F-7179-AE33888D6261}"/>
              </a:ext>
            </a:extLst>
          </p:cNvPr>
          <p:cNvSpPr txBox="1"/>
          <p:nvPr/>
        </p:nvSpPr>
        <p:spPr>
          <a:xfrm>
            <a:off x="1622522" y="1931940"/>
            <a:ext cx="11700933" cy="369332"/>
          </a:xfrm>
          <a:prstGeom prst="rect">
            <a:avLst/>
          </a:prstGeom>
          <a:noFill/>
        </p:spPr>
        <p:txBody>
          <a:bodyPr wrap="square" rtlCol="0">
            <a:spAutoFit/>
          </a:bodyPr>
          <a:lstStyle/>
          <a:p>
            <a:r>
              <a:rPr lang="en-US" b="1" dirty="0"/>
              <a:t>Correlation heatmap to show how quantitative predictors are related</a:t>
            </a:r>
          </a:p>
        </p:txBody>
      </p:sp>
      <p:pic>
        <p:nvPicPr>
          <p:cNvPr id="5" name="Picture 4">
            <a:extLst>
              <a:ext uri="{FF2B5EF4-FFF2-40B4-BE49-F238E27FC236}">
                <a16:creationId xmlns:a16="http://schemas.microsoft.com/office/drawing/2014/main" id="{0397543E-6120-0378-A5E9-F9288F0F5EE1}"/>
              </a:ext>
            </a:extLst>
          </p:cNvPr>
          <p:cNvPicPr>
            <a:picLocks noChangeAspect="1"/>
          </p:cNvPicPr>
          <p:nvPr/>
        </p:nvPicPr>
        <p:blipFill>
          <a:blip r:embed="rId3"/>
          <a:stretch>
            <a:fillRect/>
          </a:stretch>
        </p:blipFill>
        <p:spPr>
          <a:xfrm>
            <a:off x="2161208" y="2301273"/>
            <a:ext cx="6889483" cy="4356702"/>
          </a:xfrm>
          <a:prstGeom prst="rect">
            <a:avLst/>
          </a:prstGeom>
        </p:spPr>
      </p:pic>
    </p:spTree>
    <p:extLst>
      <p:ext uri="{BB962C8B-B14F-4D97-AF65-F5344CB8AC3E}">
        <p14:creationId xmlns:p14="http://schemas.microsoft.com/office/powerpoint/2010/main" val="17072978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134AED-3B93-3253-8864-F0CBAEB677C4}"/>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CCB33047-BEBA-ED64-9520-13282290F456}"/>
              </a:ext>
            </a:extLst>
          </p:cNvPr>
          <p:cNvSpPr>
            <a:spLocks noGrp="1"/>
          </p:cNvSpPr>
          <p:nvPr>
            <p:ph type="title"/>
          </p:nvPr>
        </p:nvSpPr>
        <p:spPr>
          <a:xfrm>
            <a:off x="581193" y="729658"/>
            <a:ext cx="11029616" cy="988332"/>
          </a:xfrm>
        </p:spPr>
        <p:txBody>
          <a:bodyPr anchor="b">
            <a:normAutofit/>
          </a:bodyPr>
          <a:lstStyle/>
          <a:p>
            <a:r>
              <a:rPr lang="en-US" b="1" dirty="0"/>
              <a:t>RESEARCH RESULTS</a:t>
            </a:r>
            <a:br>
              <a:rPr lang="en-US" b="1" dirty="0"/>
            </a:br>
            <a:r>
              <a:rPr lang="en-US" sz="2400" b="1" cap="none" dirty="0">
                <a:solidFill>
                  <a:srgbClr val="FB9205"/>
                </a:solidFill>
              </a:rPr>
              <a:t>Evaluation Metrics (Prediction Performance)</a:t>
            </a:r>
            <a:endParaRPr lang="en-US" dirty="0"/>
          </a:p>
        </p:txBody>
      </p:sp>
      <p:sp>
        <p:nvSpPr>
          <p:cNvPr id="18" name="TextBox 17">
            <a:extLst>
              <a:ext uri="{FF2B5EF4-FFF2-40B4-BE49-F238E27FC236}">
                <a16:creationId xmlns:a16="http://schemas.microsoft.com/office/drawing/2014/main" id="{9F5B5697-DFEB-0BEE-C8E6-C2244607C5EB}"/>
              </a:ext>
            </a:extLst>
          </p:cNvPr>
          <p:cNvSpPr txBox="1"/>
          <p:nvPr/>
        </p:nvSpPr>
        <p:spPr>
          <a:xfrm>
            <a:off x="881277" y="1920242"/>
            <a:ext cx="8447449" cy="1200329"/>
          </a:xfrm>
          <a:prstGeom prst="rect">
            <a:avLst/>
          </a:prstGeom>
          <a:noFill/>
        </p:spPr>
        <p:txBody>
          <a:bodyPr wrap="square" rtlCol="0">
            <a:spAutoFit/>
          </a:bodyPr>
          <a:lstStyle/>
          <a:p>
            <a:r>
              <a:rPr lang="en-US" b="1" dirty="0">
                <a:solidFill>
                  <a:srgbClr val="FB9205"/>
                </a:solidFill>
              </a:rPr>
              <a:t>                                                 </a:t>
            </a:r>
          </a:p>
          <a:p>
            <a:endParaRPr lang="en-US" dirty="0"/>
          </a:p>
          <a:p>
            <a:endParaRPr lang="en-US" dirty="0"/>
          </a:p>
          <a:p>
            <a:endParaRPr lang="en-US" dirty="0"/>
          </a:p>
        </p:txBody>
      </p:sp>
      <p:sp>
        <p:nvSpPr>
          <p:cNvPr id="19" name="TextBox 18">
            <a:extLst>
              <a:ext uri="{FF2B5EF4-FFF2-40B4-BE49-F238E27FC236}">
                <a16:creationId xmlns:a16="http://schemas.microsoft.com/office/drawing/2014/main" id="{B4519D30-4DFB-4987-518F-933434B93BF2}"/>
              </a:ext>
            </a:extLst>
          </p:cNvPr>
          <p:cNvSpPr txBox="1"/>
          <p:nvPr/>
        </p:nvSpPr>
        <p:spPr>
          <a:xfrm>
            <a:off x="477211" y="3022237"/>
            <a:ext cx="4547371" cy="2585323"/>
          </a:xfrm>
          <a:prstGeom prst="rect">
            <a:avLst/>
          </a:prstGeom>
          <a:noFill/>
        </p:spPr>
        <p:txBody>
          <a:bodyPr wrap="square" rtlCol="0">
            <a:spAutoFit/>
          </a:bodyPr>
          <a:lstStyle/>
          <a:p>
            <a:pPr marL="342900" indent="-342900">
              <a:buFont typeface="+mj-lt"/>
              <a:buAutoNum type="arabicPeriod"/>
            </a:pPr>
            <a:r>
              <a:rPr lang="en-US" dirty="0"/>
              <a:t>Accuracy = (TP+TN) / (TP+TN+FP+FN)</a:t>
            </a:r>
          </a:p>
          <a:p>
            <a:pPr marL="342900" indent="-342900">
              <a:buFont typeface="+mj-lt"/>
              <a:buAutoNum type="arabicPeriod"/>
            </a:pPr>
            <a:endParaRPr lang="en-US" dirty="0"/>
          </a:p>
          <a:p>
            <a:endParaRPr lang="en-US" dirty="0"/>
          </a:p>
          <a:p>
            <a:pPr marL="342900" indent="-342900">
              <a:buFontTx/>
              <a:buAutoNum type="arabicPeriod" startAt="2"/>
            </a:pPr>
            <a:r>
              <a:rPr lang="en-US" dirty="0"/>
              <a:t>Recall(Sensitivity) = TP / (TP+FN)</a:t>
            </a:r>
          </a:p>
          <a:p>
            <a:pPr marL="342900" indent="-342900">
              <a:buFontTx/>
              <a:buAutoNum type="arabicPeriod" startAt="2"/>
            </a:pPr>
            <a:endParaRPr lang="en-US" dirty="0"/>
          </a:p>
          <a:p>
            <a:pPr marL="342900" indent="-342900">
              <a:buFontTx/>
              <a:buAutoNum type="arabicPeriod" startAt="2"/>
            </a:pPr>
            <a:r>
              <a:rPr lang="en-US" dirty="0"/>
              <a:t>Specificity = TN / (TN+FP)</a:t>
            </a:r>
          </a:p>
          <a:p>
            <a:pPr marL="342900" indent="-342900">
              <a:buFontTx/>
              <a:buAutoNum type="arabicPeriod" startAt="2"/>
            </a:pPr>
            <a:endParaRPr lang="en-US" dirty="0"/>
          </a:p>
          <a:p>
            <a:pPr marL="342900" indent="-342900">
              <a:buAutoNum type="arabicPeriod" startAt="2"/>
            </a:pPr>
            <a:endParaRPr lang="en-US" dirty="0"/>
          </a:p>
          <a:p>
            <a:pPr marL="342900" indent="-342900">
              <a:buAutoNum type="arabicPeriod" startAt="2"/>
            </a:pPr>
            <a:endParaRPr lang="en-US" dirty="0"/>
          </a:p>
        </p:txBody>
      </p:sp>
      <p:sp>
        <p:nvSpPr>
          <p:cNvPr id="20" name="TextBox 19">
            <a:extLst>
              <a:ext uri="{FF2B5EF4-FFF2-40B4-BE49-F238E27FC236}">
                <a16:creationId xmlns:a16="http://schemas.microsoft.com/office/drawing/2014/main" id="{69B7E404-7C86-4145-87A3-76CB1DDD8493}"/>
              </a:ext>
            </a:extLst>
          </p:cNvPr>
          <p:cNvSpPr txBox="1"/>
          <p:nvPr/>
        </p:nvSpPr>
        <p:spPr>
          <a:xfrm>
            <a:off x="5735782" y="1025236"/>
            <a:ext cx="6517551" cy="8125301"/>
          </a:xfrm>
          <a:prstGeom prst="rect">
            <a:avLst/>
          </a:prstGeom>
          <a:noFill/>
        </p:spPr>
        <p:txBody>
          <a:bodyPr wrap="square" rtlCol="0">
            <a:spAutoFit/>
          </a:bodyPr>
          <a:lstStyle/>
          <a:p>
            <a:endParaRPr lang="en-US" dirty="0"/>
          </a:p>
          <a:p>
            <a:pPr marL="342900" indent="-342900">
              <a:buAutoNum type="arabicPeriod" startAt="4"/>
            </a:pPr>
            <a:endParaRPr lang="en-US" dirty="0"/>
          </a:p>
          <a:p>
            <a:endParaRPr lang="en-US" dirty="0"/>
          </a:p>
          <a:p>
            <a:endParaRPr lang="en-US" dirty="0"/>
          </a:p>
          <a:p>
            <a:pPr marL="342900" indent="-342900">
              <a:buAutoNum type="arabicPeriod" startAt="4"/>
            </a:pPr>
            <a:endParaRPr lang="en-US" dirty="0"/>
          </a:p>
          <a:p>
            <a:endParaRPr lang="en-US" dirty="0">
              <a:latin typeface="Cambria Math" panose="02040503050406030204" pitchFamily="18" charset="0"/>
              <a:ea typeface="Cambria Math" panose="02040503050406030204" pitchFamily="18" charset="0"/>
            </a:endParaRPr>
          </a:p>
          <a:p>
            <a:pPr marL="342900" indent="-342900">
              <a:buAutoNum type="arabicPeriod" startAt="4"/>
            </a:pPr>
            <a:endParaRPr lang="en-US" dirty="0">
              <a:latin typeface="Cambria Math" panose="02040503050406030204" pitchFamily="18" charset="0"/>
              <a:ea typeface="Cambria Math" panose="02040503050406030204" pitchFamily="18" charset="0"/>
            </a:endParaRPr>
          </a:p>
          <a:p>
            <a:r>
              <a:rPr lang="en-US" b="1" dirty="0"/>
              <a:t>4. ROC Curve </a:t>
            </a:r>
            <a:r>
              <a:rPr lang="en-US" dirty="0"/>
              <a:t>(Receiver Operating Characteristic) </a:t>
            </a:r>
          </a:p>
          <a:p>
            <a:r>
              <a:rPr lang="en-US" dirty="0"/>
              <a:t>	A graph showing:</a:t>
            </a:r>
          </a:p>
          <a:p>
            <a:pPr marL="742950" lvl="1" indent="-285750">
              <a:buFont typeface="Arial" panose="020B0604020202020204" pitchFamily="34" charset="0"/>
              <a:buChar char="•"/>
            </a:pPr>
            <a:r>
              <a:rPr lang="en-US" dirty="0"/>
              <a:t>	True Positive Rate (Recall) vs False Positive Rate</a:t>
            </a:r>
          </a:p>
          <a:p>
            <a:pPr marL="285750" indent="-285750">
              <a:buFont typeface="Arial" panose="020B0604020202020204" pitchFamily="34" charset="0"/>
              <a:buChar char="•"/>
            </a:pPr>
            <a:r>
              <a:rPr lang="en-US" dirty="0"/>
              <a:t>It evaluates performance across all thresholds, not just one</a:t>
            </a:r>
          </a:p>
          <a:p>
            <a:endParaRPr lang="en-US" dirty="0"/>
          </a:p>
          <a:p>
            <a:r>
              <a:rPr lang="en-US" dirty="0"/>
              <a:t>5.     </a:t>
            </a:r>
            <a:r>
              <a:rPr lang="en-US" b="1" dirty="0"/>
              <a:t>AUC (Area Under the Curve)</a:t>
            </a:r>
          </a:p>
          <a:p>
            <a:pPr marL="285750" indent="-285750">
              <a:buFont typeface="Arial" panose="020B0604020202020204" pitchFamily="34" charset="0"/>
              <a:buChar char="•"/>
            </a:pPr>
            <a:r>
              <a:rPr lang="en-US" dirty="0"/>
              <a:t>A single number summarizing the ROC curve</a:t>
            </a:r>
          </a:p>
          <a:p>
            <a:pPr marL="285750" indent="-285750">
              <a:buFont typeface="Arial" panose="020B0604020202020204" pitchFamily="34" charset="0"/>
              <a:buChar char="•"/>
            </a:pPr>
            <a:r>
              <a:rPr lang="en-US" dirty="0"/>
              <a:t>Range:</a:t>
            </a:r>
          </a:p>
          <a:p>
            <a:pPr lvl="1"/>
            <a:r>
              <a:rPr lang="en-US" dirty="0"/>
              <a:t>	0.5 = random model</a:t>
            </a:r>
          </a:p>
          <a:p>
            <a:pPr lvl="1"/>
            <a:r>
              <a:rPr lang="en-US" dirty="0"/>
              <a:t>	1.0 = perfect model</a:t>
            </a:r>
          </a:p>
          <a:p>
            <a:endParaRPr lang="en-US" dirty="0"/>
          </a:p>
          <a:p>
            <a:pPr marL="342900" indent="-342900">
              <a:buAutoNum type="arabicPeriod" startAt="4"/>
            </a:pPr>
            <a:endParaRPr lang="en-US" dirty="0">
              <a:latin typeface="Cambria Math" panose="02040503050406030204" pitchFamily="18" charset="0"/>
              <a:ea typeface="Cambria Math" panose="02040503050406030204" pitchFamily="18" charset="0"/>
            </a:endParaRPr>
          </a:p>
          <a:p>
            <a:pPr marL="342900" indent="-342900">
              <a:buAutoNum type="arabicPeriod" startAt="4"/>
            </a:pPr>
            <a:endParaRPr lang="en-US" dirty="0">
              <a:latin typeface="Cambria Math" panose="02040503050406030204" pitchFamily="18" charset="0"/>
              <a:ea typeface="Cambria Math" panose="02040503050406030204" pitchFamily="18" charset="0"/>
            </a:endParaRPr>
          </a:p>
          <a:p>
            <a:endParaRPr lang="en-US" dirty="0">
              <a:latin typeface="Cambria Math" panose="02040503050406030204" pitchFamily="18" charset="0"/>
              <a:ea typeface="Cambria Math" panose="02040503050406030204" pitchFamily="18" charset="0"/>
            </a:endParaRPr>
          </a:p>
          <a:p>
            <a:endParaRPr lang="en-US" dirty="0">
              <a:latin typeface="Cambria Math" panose="02040503050406030204" pitchFamily="18" charset="0"/>
              <a:ea typeface="Cambria Math" panose="02040503050406030204" pitchFamily="18" charset="0"/>
            </a:endParaRPr>
          </a:p>
          <a:p>
            <a:pPr marL="342900" indent="-342900">
              <a:buAutoNum type="arabicPeriod" startAt="4"/>
            </a:pPr>
            <a:endParaRPr lang="en-US" dirty="0">
              <a:latin typeface="Cambria Math" panose="02040503050406030204" pitchFamily="18" charset="0"/>
              <a:ea typeface="Cambria Math" panose="02040503050406030204" pitchFamily="18" charset="0"/>
            </a:endParaRPr>
          </a:p>
          <a:p>
            <a:pPr marL="342900" indent="-342900">
              <a:buAutoNum type="arabicPeriod" startAt="4"/>
            </a:pPr>
            <a:endParaRPr lang="en-US" dirty="0">
              <a:latin typeface="Cambria Math" panose="02040503050406030204" pitchFamily="18" charset="0"/>
              <a:ea typeface="Cambria Math" panose="02040503050406030204" pitchFamily="18" charset="0"/>
            </a:endParaRPr>
          </a:p>
          <a:p>
            <a:pPr marL="342900" indent="-342900">
              <a:buAutoNum type="arabicPeriod" startAt="4"/>
            </a:pPr>
            <a:endParaRPr lang="en-US" dirty="0">
              <a:latin typeface="Cambria Math" panose="02040503050406030204" pitchFamily="18" charset="0"/>
              <a:ea typeface="Cambria Math" panose="02040503050406030204" pitchFamily="18" charset="0"/>
            </a:endParaRPr>
          </a:p>
          <a:p>
            <a:pPr marL="342900" indent="-342900">
              <a:buAutoNum type="arabicPeriod" startAt="4"/>
            </a:pPr>
            <a:endParaRPr lang="en-US" dirty="0">
              <a:latin typeface="Cambria Math" panose="02040503050406030204" pitchFamily="18" charset="0"/>
              <a:ea typeface="Cambria Math" panose="02040503050406030204" pitchFamily="18" charset="0"/>
            </a:endParaRPr>
          </a:p>
          <a:p>
            <a:pPr marL="342900" indent="-342900">
              <a:buAutoNum type="arabicPeriod" startAt="4"/>
            </a:pPr>
            <a:endParaRPr lang="en-US" dirty="0">
              <a:latin typeface="Cambria Math" panose="02040503050406030204" pitchFamily="18" charset="0"/>
              <a:ea typeface="Cambria Math" panose="02040503050406030204" pitchFamily="18" charset="0"/>
            </a:endParaRPr>
          </a:p>
          <a:p>
            <a:pPr marL="342900" indent="-342900">
              <a:buAutoNum type="arabicPeriod" startAt="4"/>
            </a:pPr>
            <a:endParaRPr lang="en-US" dirty="0">
              <a:latin typeface="Cambria Math" panose="02040503050406030204" pitchFamily="18" charset="0"/>
              <a:ea typeface="Cambria Math" panose="02040503050406030204" pitchFamily="18" charset="0"/>
            </a:endParaRPr>
          </a:p>
          <a:p>
            <a:pPr marL="342900" indent="-342900">
              <a:buAutoNum type="arabicPeriod" startAt="4"/>
            </a:pPr>
            <a:endParaRPr lang="en-US" dirty="0"/>
          </a:p>
        </p:txBody>
      </p:sp>
    </p:spTree>
    <p:extLst>
      <p:ext uri="{BB962C8B-B14F-4D97-AF65-F5344CB8AC3E}">
        <p14:creationId xmlns:p14="http://schemas.microsoft.com/office/powerpoint/2010/main" val="19083156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475130-B12C-787A-2799-C81D4BFB60AA}"/>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380A5CD9-9A02-37FE-05F3-0A3ED1E5D533}"/>
              </a:ext>
            </a:extLst>
          </p:cNvPr>
          <p:cNvSpPr>
            <a:spLocks noGrp="1"/>
          </p:cNvSpPr>
          <p:nvPr>
            <p:ph type="title"/>
          </p:nvPr>
        </p:nvSpPr>
        <p:spPr/>
        <p:txBody>
          <a:bodyPr/>
          <a:lstStyle/>
          <a:p>
            <a:r>
              <a:rPr lang="en-US" b="1" dirty="0">
                <a:solidFill>
                  <a:srgbClr val="FB9205"/>
                </a:solidFill>
                <a:latin typeface="Abadi" panose="020B0604020104020204" pitchFamily="34" charset="0"/>
              </a:rPr>
              <a:t>RESEARCH RESULTS</a:t>
            </a:r>
            <a:br>
              <a:rPr lang="en-US" b="1" dirty="0">
                <a:solidFill>
                  <a:srgbClr val="FB9205"/>
                </a:solidFill>
                <a:latin typeface="Abadi" panose="020B0604020104020204" pitchFamily="34" charset="0"/>
              </a:rPr>
            </a:br>
            <a:endParaRPr lang="en-US" dirty="0"/>
          </a:p>
        </p:txBody>
      </p:sp>
      <p:sp>
        <p:nvSpPr>
          <p:cNvPr id="22" name="TextBox 21">
            <a:extLst>
              <a:ext uri="{FF2B5EF4-FFF2-40B4-BE49-F238E27FC236}">
                <a16:creationId xmlns:a16="http://schemas.microsoft.com/office/drawing/2014/main" id="{E06D5D4F-BE27-DECD-A529-D5172CF4C602}"/>
              </a:ext>
            </a:extLst>
          </p:cNvPr>
          <p:cNvSpPr txBox="1"/>
          <p:nvPr/>
        </p:nvSpPr>
        <p:spPr>
          <a:xfrm>
            <a:off x="493776" y="2103120"/>
            <a:ext cx="11183112" cy="646331"/>
          </a:xfrm>
          <a:prstGeom prst="rect">
            <a:avLst/>
          </a:prstGeom>
          <a:noFill/>
        </p:spPr>
        <p:txBody>
          <a:bodyPr wrap="square" rtlCol="0">
            <a:spAutoFit/>
          </a:bodyPr>
          <a:lstStyle/>
          <a:p>
            <a:r>
              <a:rPr lang="en-US" dirty="0">
                <a:solidFill>
                  <a:schemeClr val="accent1"/>
                </a:solidFill>
              </a:rPr>
              <a:t>ROC (Receiver Operating Characteristic) Curves– Showing how well the model distinguishes between customers who are interested and not interested</a:t>
            </a:r>
          </a:p>
        </p:txBody>
      </p:sp>
      <p:pic>
        <p:nvPicPr>
          <p:cNvPr id="7" name="Picture 6">
            <a:extLst>
              <a:ext uri="{FF2B5EF4-FFF2-40B4-BE49-F238E27FC236}">
                <a16:creationId xmlns:a16="http://schemas.microsoft.com/office/drawing/2014/main" id="{65C22AC2-0E66-E759-A33C-4FF1F4E19793}"/>
              </a:ext>
            </a:extLst>
          </p:cNvPr>
          <p:cNvPicPr>
            <a:picLocks noChangeAspect="1"/>
          </p:cNvPicPr>
          <p:nvPr/>
        </p:nvPicPr>
        <p:blipFill>
          <a:blip r:embed="rId3"/>
          <a:stretch>
            <a:fillRect/>
          </a:stretch>
        </p:blipFill>
        <p:spPr>
          <a:xfrm>
            <a:off x="493776" y="3180958"/>
            <a:ext cx="5200073" cy="3286157"/>
          </a:xfrm>
          <a:prstGeom prst="rect">
            <a:avLst/>
          </a:prstGeom>
        </p:spPr>
      </p:pic>
      <p:pic>
        <p:nvPicPr>
          <p:cNvPr id="8" name="Picture 7">
            <a:extLst>
              <a:ext uri="{FF2B5EF4-FFF2-40B4-BE49-F238E27FC236}">
                <a16:creationId xmlns:a16="http://schemas.microsoft.com/office/drawing/2014/main" id="{65DDDB67-EBE5-EAD1-A1F6-3BA57B404262}"/>
              </a:ext>
            </a:extLst>
          </p:cNvPr>
          <p:cNvPicPr>
            <a:picLocks noChangeAspect="1"/>
          </p:cNvPicPr>
          <p:nvPr/>
        </p:nvPicPr>
        <p:blipFill>
          <a:blip r:embed="rId4"/>
          <a:stretch>
            <a:fillRect/>
          </a:stretch>
        </p:blipFill>
        <p:spPr>
          <a:xfrm>
            <a:off x="6096000" y="3180958"/>
            <a:ext cx="5200073" cy="3286157"/>
          </a:xfrm>
          <a:prstGeom prst="rect">
            <a:avLst/>
          </a:prstGeom>
        </p:spPr>
      </p:pic>
    </p:spTree>
    <p:extLst>
      <p:ext uri="{BB962C8B-B14F-4D97-AF65-F5344CB8AC3E}">
        <p14:creationId xmlns:p14="http://schemas.microsoft.com/office/powerpoint/2010/main" val="30009097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1A742-0222-8402-DEE3-4CE47F3E7D10}"/>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D8E83641-D4D8-CEDF-BAEA-A7464BBEA19F}"/>
              </a:ext>
            </a:extLst>
          </p:cNvPr>
          <p:cNvSpPr>
            <a:spLocks noGrp="1"/>
          </p:cNvSpPr>
          <p:nvPr>
            <p:ph type="title"/>
          </p:nvPr>
        </p:nvSpPr>
        <p:spPr/>
        <p:txBody>
          <a:bodyPr/>
          <a:lstStyle/>
          <a:p>
            <a:r>
              <a:rPr lang="en-US" b="1" dirty="0">
                <a:solidFill>
                  <a:srgbClr val="FB9205"/>
                </a:solidFill>
                <a:latin typeface="Abadi" panose="020B0604020104020204" pitchFamily="34" charset="0"/>
              </a:rPr>
              <a:t>RESEARCH RESULTS</a:t>
            </a:r>
            <a:br>
              <a:rPr lang="en-US" b="1" dirty="0">
                <a:solidFill>
                  <a:srgbClr val="FB9205"/>
                </a:solidFill>
                <a:latin typeface="Abadi" panose="020B0604020104020204" pitchFamily="34" charset="0"/>
              </a:rPr>
            </a:br>
            <a:endParaRPr lang="en-US" dirty="0"/>
          </a:p>
        </p:txBody>
      </p:sp>
      <p:pic>
        <p:nvPicPr>
          <p:cNvPr id="5" name="Picture 4">
            <a:extLst>
              <a:ext uri="{FF2B5EF4-FFF2-40B4-BE49-F238E27FC236}">
                <a16:creationId xmlns:a16="http://schemas.microsoft.com/office/drawing/2014/main" id="{9785A3F4-0138-C2CE-3BBE-3B38EE8EC8FC}"/>
              </a:ext>
            </a:extLst>
          </p:cNvPr>
          <p:cNvPicPr>
            <a:picLocks noChangeAspect="1"/>
          </p:cNvPicPr>
          <p:nvPr/>
        </p:nvPicPr>
        <p:blipFill>
          <a:blip r:embed="rId3"/>
          <a:stretch>
            <a:fillRect/>
          </a:stretch>
        </p:blipFill>
        <p:spPr>
          <a:xfrm>
            <a:off x="6096000" y="2933478"/>
            <a:ext cx="5980546" cy="3779373"/>
          </a:xfrm>
          <a:prstGeom prst="rect">
            <a:avLst/>
          </a:prstGeom>
        </p:spPr>
      </p:pic>
      <p:pic>
        <p:nvPicPr>
          <p:cNvPr id="8" name="Picture 7">
            <a:extLst>
              <a:ext uri="{FF2B5EF4-FFF2-40B4-BE49-F238E27FC236}">
                <a16:creationId xmlns:a16="http://schemas.microsoft.com/office/drawing/2014/main" id="{D092E8B1-1777-58BC-580B-9FDBAC2C5FAC}"/>
              </a:ext>
            </a:extLst>
          </p:cNvPr>
          <p:cNvPicPr>
            <a:picLocks noChangeAspect="1"/>
          </p:cNvPicPr>
          <p:nvPr/>
        </p:nvPicPr>
        <p:blipFill>
          <a:blip r:embed="rId4"/>
          <a:stretch>
            <a:fillRect/>
          </a:stretch>
        </p:blipFill>
        <p:spPr>
          <a:xfrm>
            <a:off x="183198" y="2933478"/>
            <a:ext cx="5980546" cy="3779373"/>
          </a:xfrm>
          <a:prstGeom prst="rect">
            <a:avLst/>
          </a:prstGeom>
        </p:spPr>
      </p:pic>
    </p:spTree>
    <p:extLst>
      <p:ext uri="{BB962C8B-B14F-4D97-AF65-F5344CB8AC3E}">
        <p14:creationId xmlns:p14="http://schemas.microsoft.com/office/powerpoint/2010/main" val="17340696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BE6DB4-D860-0D40-2C50-C4CD07DE555C}"/>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43D06CBB-2E7C-B906-62B3-4527444CDC33}"/>
              </a:ext>
            </a:extLst>
          </p:cNvPr>
          <p:cNvSpPr>
            <a:spLocks noGrp="1"/>
          </p:cNvSpPr>
          <p:nvPr>
            <p:ph type="title"/>
          </p:nvPr>
        </p:nvSpPr>
        <p:spPr/>
        <p:txBody>
          <a:bodyPr/>
          <a:lstStyle/>
          <a:p>
            <a:r>
              <a:rPr lang="en-US" b="1" dirty="0">
                <a:solidFill>
                  <a:srgbClr val="FB9205"/>
                </a:solidFill>
                <a:latin typeface="Abadi" panose="020B0604020104020204" pitchFamily="34" charset="0"/>
              </a:rPr>
              <a:t>RESEARCH RESULTS</a:t>
            </a:r>
            <a:br>
              <a:rPr lang="en-US" b="1" dirty="0">
                <a:solidFill>
                  <a:srgbClr val="FB9205"/>
                </a:solidFill>
                <a:latin typeface="Abadi" panose="020B0604020104020204" pitchFamily="34" charset="0"/>
              </a:rPr>
            </a:br>
            <a:endParaRPr lang="en-US" dirty="0"/>
          </a:p>
        </p:txBody>
      </p:sp>
      <p:graphicFrame>
        <p:nvGraphicFramePr>
          <p:cNvPr id="9" name="Table 8">
            <a:extLst>
              <a:ext uri="{FF2B5EF4-FFF2-40B4-BE49-F238E27FC236}">
                <a16:creationId xmlns:a16="http://schemas.microsoft.com/office/drawing/2014/main" id="{85DE64C0-CC28-697E-6DA2-DE760DA6EFAF}"/>
              </a:ext>
            </a:extLst>
          </p:cNvPr>
          <p:cNvGraphicFramePr>
            <a:graphicFrameLocks noGrp="1"/>
          </p:cNvGraphicFramePr>
          <p:nvPr>
            <p:extLst>
              <p:ext uri="{D42A27DB-BD31-4B8C-83A1-F6EECF244321}">
                <p14:modId xmlns:p14="http://schemas.microsoft.com/office/powerpoint/2010/main" val="524824581"/>
              </p:ext>
            </p:extLst>
          </p:nvPr>
        </p:nvGraphicFramePr>
        <p:xfrm>
          <a:off x="-1" y="2469930"/>
          <a:ext cx="6747640" cy="4143335"/>
        </p:xfrm>
        <a:graphic>
          <a:graphicData uri="http://schemas.openxmlformats.org/drawingml/2006/table">
            <a:tbl>
              <a:tblPr firstRow="1" bandRow="1">
                <a:tableStyleId>{5C22544A-7EE6-4342-B048-85BDC9FD1C3A}</a:tableStyleId>
              </a:tblPr>
              <a:tblGrid>
                <a:gridCol w="1686910">
                  <a:extLst>
                    <a:ext uri="{9D8B030D-6E8A-4147-A177-3AD203B41FA5}">
                      <a16:colId xmlns:a16="http://schemas.microsoft.com/office/drawing/2014/main" val="1536178664"/>
                    </a:ext>
                  </a:extLst>
                </a:gridCol>
                <a:gridCol w="1686910">
                  <a:extLst>
                    <a:ext uri="{9D8B030D-6E8A-4147-A177-3AD203B41FA5}">
                      <a16:colId xmlns:a16="http://schemas.microsoft.com/office/drawing/2014/main" val="96401120"/>
                    </a:ext>
                  </a:extLst>
                </a:gridCol>
                <a:gridCol w="1761599">
                  <a:extLst>
                    <a:ext uri="{9D8B030D-6E8A-4147-A177-3AD203B41FA5}">
                      <a16:colId xmlns:a16="http://schemas.microsoft.com/office/drawing/2014/main" val="4009702201"/>
                    </a:ext>
                  </a:extLst>
                </a:gridCol>
                <a:gridCol w="1612221">
                  <a:extLst>
                    <a:ext uri="{9D8B030D-6E8A-4147-A177-3AD203B41FA5}">
                      <a16:colId xmlns:a16="http://schemas.microsoft.com/office/drawing/2014/main" val="2763827183"/>
                    </a:ext>
                  </a:extLst>
                </a:gridCol>
              </a:tblGrid>
              <a:tr h="849079">
                <a:tc>
                  <a:txBody>
                    <a:bodyPr/>
                    <a:lstStyle/>
                    <a:p>
                      <a:pPr algn="ctr"/>
                      <a:endParaRPr lang="en-US" dirty="0"/>
                    </a:p>
                    <a:p>
                      <a:pPr algn="ctr"/>
                      <a:r>
                        <a:rPr lang="en-US" dirty="0"/>
                        <a:t>Model</a:t>
                      </a:r>
                    </a:p>
                  </a:txBody>
                  <a:tcPr/>
                </a:tc>
                <a:tc>
                  <a:txBody>
                    <a:bodyPr/>
                    <a:lstStyle/>
                    <a:p>
                      <a:endParaRPr lang="en-US" dirty="0"/>
                    </a:p>
                    <a:p>
                      <a:pPr algn="ctr"/>
                      <a:r>
                        <a:rPr lang="en-US" dirty="0"/>
                        <a:t>Sensitivity(Recall)</a:t>
                      </a:r>
                    </a:p>
                  </a:txBody>
                  <a:tcPr/>
                </a:tc>
                <a:tc>
                  <a:txBody>
                    <a:bodyPr/>
                    <a:lstStyle/>
                    <a:p>
                      <a:endParaRPr lang="en-US" dirty="0"/>
                    </a:p>
                    <a:p>
                      <a:pPr algn="ctr"/>
                      <a:r>
                        <a:rPr lang="en-US" dirty="0"/>
                        <a:t>Specificity</a:t>
                      </a:r>
                    </a:p>
                  </a:txBody>
                  <a:tcPr/>
                </a:tc>
                <a:tc>
                  <a:txBody>
                    <a:bodyPr/>
                    <a:lstStyle/>
                    <a:p>
                      <a:endParaRPr lang="en-US" dirty="0"/>
                    </a:p>
                    <a:p>
                      <a:pPr algn="ctr"/>
                      <a:r>
                        <a:rPr lang="en-US" dirty="0"/>
                        <a:t>Balanced Accuracy</a:t>
                      </a:r>
                    </a:p>
                  </a:txBody>
                  <a:tcPr/>
                </a:tc>
                <a:extLst>
                  <a:ext uri="{0D108BD9-81ED-4DB2-BD59-A6C34878D82A}">
                    <a16:rowId xmlns:a16="http://schemas.microsoft.com/office/drawing/2014/main" val="2602151838"/>
                  </a:ext>
                </a:extLst>
              </a:tr>
              <a:tr h="735303">
                <a:tc>
                  <a:txBody>
                    <a:bodyPr/>
                    <a:lstStyle/>
                    <a:p>
                      <a:r>
                        <a:rPr lang="en-US" dirty="0"/>
                        <a:t>Logistic Regression</a:t>
                      </a:r>
                    </a:p>
                  </a:txBody>
                  <a:tcPr/>
                </a:tc>
                <a:tc>
                  <a:txBody>
                    <a:bodyPr/>
                    <a:lstStyle/>
                    <a:p>
                      <a:pPr algn="ctr"/>
                      <a:r>
                        <a:rPr lang="en-US" dirty="0"/>
                        <a:t>0.7833</a:t>
                      </a:r>
                    </a:p>
                  </a:txBody>
                  <a:tcPr/>
                </a:tc>
                <a:tc>
                  <a:txBody>
                    <a:bodyPr/>
                    <a:lstStyle/>
                    <a:p>
                      <a:pPr algn="ctr"/>
                      <a:r>
                        <a:rPr lang="en-US" dirty="0"/>
                        <a:t>0.750</a:t>
                      </a:r>
                    </a:p>
                  </a:txBody>
                  <a:tcPr/>
                </a:tc>
                <a:tc>
                  <a:txBody>
                    <a:bodyPr/>
                    <a:lstStyle/>
                    <a:p>
                      <a:r>
                        <a:rPr lang="en-US" dirty="0"/>
                        <a:t>0.791</a:t>
                      </a:r>
                    </a:p>
                  </a:txBody>
                  <a:tcPr/>
                </a:tc>
                <a:extLst>
                  <a:ext uri="{0D108BD9-81ED-4DB2-BD59-A6C34878D82A}">
                    <a16:rowId xmlns:a16="http://schemas.microsoft.com/office/drawing/2014/main" val="3104586207"/>
                  </a:ext>
                </a:extLst>
              </a:tr>
              <a:tr h="1023026">
                <a:tc>
                  <a:txBody>
                    <a:bodyPr/>
                    <a:lstStyle/>
                    <a:p>
                      <a:r>
                        <a:rPr lang="en-US" dirty="0"/>
                        <a:t>Probit</a:t>
                      </a:r>
                    </a:p>
                    <a:p>
                      <a:r>
                        <a:rPr lang="en-US" dirty="0"/>
                        <a:t>Regression</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 0.832 </a:t>
                      </a:r>
                    </a:p>
                    <a:p>
                      <a:pPr algn="ctr"/>
                      <a:endParaRPr lang="en-US" dirty="0"/>
                    </a:p>
                  </a:txBody>
                  <a:tcPr/>
                </a:tc>
                <a:tc>
                  <a:txBody>
                    <a:bodyPr/>
                    <a:lstStyle/>
                    <a:p>
                      <a:pPr latinLnBrk="1"/>
                      <a:r>
                        <a:rPr lang="en-US" sz="1800" b="0" i="0" kern="1200" dirty="0">
                          <a:solidFill>
                            <a:schemeClr val="dk1"/>
                          </a:solidFill>
                          <a:effectLst/>
                          <a:latin typeface="+mn-lt"/>
                          <a:ea typeface="+mn-ea"/>
                          <a:cs typeface="+mn-cs"/>
                        </a:rPr>
                        <a:t>       0.751</a:t>
                      </a:r>
                    </a:p>
                  </a:txBody>
                  <a:tcPr/>
                </a:tc>
                <a:tc>
                  <a:txBody>
                    <a:bodyPr/>
                    <a:lstStyle/>
                    <a:p>
                      <a:r>
                        <a:rPr lang="en-US" dirty="0"/>
                        <a:t>0.792</a:t>
                      </a:r>
                    </a:p>
                  </a:txBody>
                  <a:tcPr/>
                </a:tc>
                <a:extLst>
                  <a:ext uri="{0D108BD9-81ED-4DB2-BD59-A6C34878D82A}">
                    <a16:rowId xmlns:a16="http://schemas.microsoft.com/office/drawing/2014/main" val="1178800457"/>
                  </a:ext>
                </a:extLst>
              </a:tr>
              <a:tr h="735303">
                <a:tc>
                  <a:txBody>
                    <a:bodyPr/>
                    <a:lstStyle/>
                    <a:p>
                      <a:r>
                        <a:rPr lang="en-US" dirty="0"/>
                        <a:t>Random Forest</a:t>
                      </a:r>
                    </a:p>
                  </a:txBody>
                  <a:tcPr/>
                </a:tc>
                <a:tc>
                  <a:txBody>
                    <a:bodyPr/>
                    <a:lstStyle/>
                    <a:p>
                      <a:pPr algn="ctr"/>
                      <a:r>
                        <a:rPr lang="en-US" dirty="0"/>
                        <a:t>0.950</a:t>
                      </a:r>
                    </a:p>
                  </a:txBody>
                  <a:tcPr/>
                </a:tc>
                <a:tc>
                  <a:txBody>
                    <a:bodyPr/>
                    <a:lstStyle/>
                    <a:p>
                      <a:pPr algn="ctr"/>
                      <a:r>
                        <a:rPr lang="en-US" dirty="0"/>
                        <a:t>0.638</a:t>
                      </a:r>
                    </a:p>
                  </a:txBody>
                  <a:tcPr/>
                </a:tc>
                <a:tc>
                  <a:txBody>
                    <a:bodyPr/>
                    <a:lstStyle/>
                    <a:p>
                      <a:r>
                        <a:rPr lang="en-US" dirty="0"/>
                        <a:t>0.794</a:t>
                      </a:r>
                    </a:p>
                  </a:txBody>
                  <a:tcPr/>
                </a:tc>
                <a:extLst>
                  <a:ext uri="{0D108BD9-81ED-4DB2-BD59-A6C34878D82A}">
                    <a16:rowId xmlns:a16="http://schemas.microsoft.com/office/drawing/2014/main" val="2407478194"/>
                  </a:ext>
                </a:extLst>
              </a:tr>
              <a:tr h="735303">
                <a:tc>
                  <a:txBody>
                    <a:bodyPr/>
                    <a:lstStyle/>
                    <a:p>
                      <a:r>
                        <a:rPr lang="en-US" dirty="0" err="1"/>
                        <a:t>XGBoost</a:t>
                      </a:r>
                      <a:endParaRPr lang="en-US" dirty="0"/>
                    </a:p>
                  </a:txBody>
                  <a:tcPr/>
                </a:tc>
                <a:tc>
                  <a:txBody>
                    <a:bodyPr/>
                    <a:lstStyle/>
                    <a:p>
                      <a:pPr algn="ctr"/>
                      <a:r>
                        <a:rPr lang="en-US" dirty="0"/>
                        <a:t>0.934</a:t>
                      </a:r>
                    </a:p>
                  </a:txBody>
                  <a:tcPr/>
                </a:tc>
                <a:tc>
                  <a:txBody>
                    <a:bodyPr/>
                    <a:lstStyle/>
                    <a:p>
                      <a:pPr algn="ctr"/>
                      <a:r>
                        <a:rPr lang="en-US" dirty="0"/>
                        <a:t>0.688</a:t>
                      </a:r>
                    </a:p>
                  </a:txBody>
                  <a:tcPr/>
                </a:tc>
                <a:tc>
                  <a:txBody>
                    <a:bodyPr/>
                    <a:lstStyle/>
                    <a:p>
                      <a:r>
                        <a:rPr lang="en-US" dirty="0"/>
                        <a:t>0.811</a:t>
                      </a:r>
                    </a:p>
                  </a:txBody>
                  <a:tcPr/>
                </a:tc>
                <a:extLst>
                  <a:ext uri="{0D108BD9-81ED-4DB2-BD59-A6C34878D82A}">
                    <a16:rowId xmlns:a16="http://schemas.microsoft.com/office/drawing/2014/main" val="131350095"/>
                  </a:ext>
                </a:extLst>
              </a:tr>
            </a:tbl>
          </a:graphicData>
        </a:graphic>
      </p:graphicFrame>
      <p:sp>
        <p:nvSpPr>
          <p:cNvPr id="11" name="TextBox 10">
            <a:extLst>
              <a:ext uri="{FF2B5EF4-FFF2-40B4-BE49-F238E27FC236}">
                <a16:creationId xmlns:a16="http://schemas.microsoft.com/office/drawing/2014/main" id="{83BF75C6-89BD-89D1-0D02-D3C963E43477}"/>
              </a:ext>
            </a:extLst>
          </p:cNvPr>
          <p:cNvSpPr txBox="1"/>
          <p:nvPr/>
        </p:nvSpPr>
        <p:spPr>
          <a:xfrm>
            <a:off x="355381" y="2017986"/>
            <a:ext cx="8113986" cy="369332"/>
          </a:xfrm>
          <a:prstGeom prst="rect">
            <a:avLst/>
          </a:prstGeom>
          <a:noFill/>
        </p:spPr>
        <p:txBody>
          <a:bodyPr wrap="square" rtlCol="0">
            <a:spAutoFit/>
          </a:bodyPr>
          <a:lstStyle/>
          <a:p>
            <a:r>
              <a:rPr lang="en-US" b="1" dirty="0"/>
              <a:t>Confusion Matrix Metrics (Side-by-Side Comparison)</a:t>
            </a:r>
          </a:p>
        </p:txBody>
      </p:sp>
      <p:sp>
        <p:nvSpPr>
          <p:cNvPr id="14" name="TextBox 13">
            <a:extLst>
              <a:ext uri="{FF2B5EF4-FFF2-40B4-BE49-F238E27FC236}">
                <a16:creationId xmlns:a16="http://schemas.microsoft.com/office/drawing/2014/main" id="{F764D3DF-3C0C-5CCB-CA4D-ADD64EAF32F3}"/>
              </a:ext>
            </a:extLst>
          </p:cNvPr>
          <p:cNvSpPr txBox="1"/>
          <p:nvPr/>
        </p:nvSpPr>
        <p:spPr>
          <a:xfrm>
            <a:off x="6747639" y="3825766"/>
            <a:ext cx="5013437" cy="1797267"/>
          </a:xfrm>
          <a:prstGeom prst="rect">
            <a:avLst/>
          </a:prstGeom>
          <a:noFill/>
        </p:spPr>
        <p:txBody>
          <a:bodyPr wrap="square" rtlCol="0">
            <a:spAutoFit/>
          </a:bodyPr>
          <a:lstStyle/>
          <a:p>
            <a:endParaRPr lang="en-US" dirty="0"/>
          </a:p>
        </p:txBody>
      </p:sp>
      <p:sp>
        <p:nvSpPr>
          <p:cNvPr id="16" name="Rectangle 4">
            <a:extLst>
              <a:ext uri="{FF2B5EF4-FFF2-40B4-BE49-F238E27FC236}">
                <a16:creationId xmlns:a16="http://schemas.microsoft.com/office/drawing/2014/main" id="{8F967E60-AAA5-E056-AC17-E51D72B90DD3}"/>
              </a:ext>
            </a:extLst>
          </p:cNvPr>
          <p:cNvSpPr>
            <a:spLocks noChangeArrowheads="1"/>
          </p:cNvSpPr>
          <p:nvPr/>
        </p:nvSpPr>
        <p:spPr bwMode="auto">
          <a:xfrm>
            <a:off x="6747639" y="2535180"/>
            <a:ext cx="5701535"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Sensitivity (Recall)</a:t>
            </a:r>
            <a:r>
              <a:rPr kumimoji="0" lang="en-US" altLang="en-US" sz="1800" b="0" i="0" u="none" strike="noStrike" cap="none" normalizeH="0" baseline="0" dirty="0">
                <a:ln>
                  <a:noFill/>
                </a:ln>
                <a:solidFill>
                  <a:schemeClr val="tx1"/>
                </a:solidFill>
                <a:effectLst/>
                <a:latin typeface="Arial" panose="020B0604020202020204" pitchFamily="34" charset="0"/>
              </a:rPr>
              <a:t>: Most important for detecting potential insurance buyers. Random Forest has the highest sensitivity (</a:t>
            </a:r>
            <a:r>
              <a:rPr lang="en-US" altLang="en-US" dirty="0">
                <a:latin typeface="Arial" panose="020B0604020202020204" pitchFamily="34" charset="0"/>
              </a:rPr>
              <a:t>95%</a:t>
            </a:r>
            <a:r>
              <a:rPr kumimoji="0" lang="en-US" altLang="en-US" sz="1800" b="0" i="0" u="none" strike="noStrike" cap="none" normalizeH="0" baseline="0" dirty="0">
                <a:ln>
                  <a:noFill/>
                </a:ln>
                <a:solidFill>
                  <a:schemeClr val="tx1"/>
                </a:solidFill>
                <a:effectLst/>
                <a:latin typeface="Arial" panose="020B0604020202020204" pitchFamily="34" charset="0"/>
              </a:rPr>
              <a:t>), making it best for identifying high-value customers.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Balanced Accuracy</a:t>
            </a:r>
            <a:r>
              <a:rPr kumimoji="0" lang="en-US" altLang="en-US" sz="1800" b="0" i="0" u="none" strike="noStrike" cap="none" normalizeH="0" baseline="0" dirty="0">
                <a:ln>
                  <a:noFill/>
                </a:ln>
                <a:solidFill>
                  <a:schemeClr val="tx1"/>
                </a:solidFill>
                <a:effectLst/>
                <a:latin typeface="Arial" panose="020B0604020202020204" pitchFamily="34" charset="0"/>
              </a:rPr>
              <a:t>: Since the data was </a:t>
            </a:r>
            <a:r>
              <a:rPr kumimoji="0" lang="en-US" altLang="en-US" sz="1800" b="1" i="0" u="none" strike="noStrike" cap="none" normalizeH="0" baseline="0" dirty="0">
                <a:ln>
                  <a:noFill/>
                </a:ln>
                <a:solidFill>
                  <a:schemeClr val="tx1"/>
                </a:solidFill>
                <a:effectLst/>
                <a:latin typeface="Arial" panose="020B0604020202020204" pitchFamily="34" charset="0"/>
              </a:rPr>
              <a:t>imbalanced</a:t>
            </a:r>
            <a:r>
              <a:rPr kumimoji="0" lang="en-US" altLang="en-US" sz="1800" b="0" i="0" u="none" strike="noStrike" cap="none" normalizeH="0" baseline="0" dirty="0">
                <a:ln>
                  <a:noFill/>
                </a:ln>
                <a:solidFill>
                  <a:schemeClr val="tx1"/>
                </a:solidFill>
                <a:effectLst/>
                <a:latin typeface="Arial" panose="020B0604020202020204" pitchFamily="34" charset="0"/>
              </a:rPr>
              <a:t>, balanced accuracy was the best to use for model evaluation. </a:t>
            </a:r>
            <a:r>
              <a:rPr kumimoji="0" lang="en-US" altLang="en-US" sz="1800" b="0" i="0" u="none" strike="noStrike" cap="none" normalizeH="0" baseline="0" dirty="0" err="1">
                <a:ln>
                  <a:noFill/>
                </a:ln>
                <a:solidFill>
                  <a:schemeClr val="tx1"/>
                </a:solidFill>
                <a:effectLst/>
                <a:latin typeface="Arial" panose="020B0604020202020204" pitchFamily="34" charset="0"/>
              </a:rPr>
              <a:t>XGBoost</a:t>
            </a:r>
            <a:r>
              <a:rPr kumimoji="0" lang="en-US" altLang="en-US" sz="1800" b="0" i="0" u="none" strike="noStrike" cap="none" normalizeH="0" baseline="0" dirty="0">
                <a:ln>
                  <a:noFill/>
                </a:ln>
                <a:solidFill>
                  <a:schemeClr val="tx1"/>
                </a:solidFill>
                <a:effectLst/>
                <a:latin typeface="Arial" panose="020B0604020202020204" pitchFamily="34" charset="0"/>
              </a:rPr>
              <a:t> slightly outperforms others (</a:t>
            </a:r>
            <a:r>
              <a:rPr lang="en-US" altLang="en-US" dirty="0">
                <a:latin typeface="Arial" panose="020B0604020202020204" pitchFamily="34" charset="0"/>
              </a:rPr>
              <a:t>81.1%</a:t>
            </a:r>
            <a:r>
              <a:rPr kumimoji="0" lang="en-US" altLang="en-US" sz="1800" b="0" i="0" u="none" strike="noStrike" cap="none" normalizeH="0" baseline="0" dirty="0">
                <a:ln>
                  <a:noFill/>
                </a:ln>
                <a:solidFill>
                  <a:schemeClr val="tx1"/>
                </a:solidFill>
                <a:effectLst/>
                <a:latin typeface="Arial" panose="020B0604020202020204" pitchFamily="34" charset="0"/>
              </a:rPr>
              <a:t>), showing strong performance across both classes.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Specificity</a:t>
            </a:r>
            <a:r>
              <a:rPr kumimoji="0" lang="en-US" altLang="en-US" sz="1800" b="0" i="0" u="none" strike="noStrike" cap="none" normalizeH="0" baseline="0" dirty="0">
                <a:ln>
                  <a:noFill/>
                </a:ln>
                <a:solidFill>
                  <a:schemeClr val="tx1"/>
                </a:solidFill>
                <a:effectLst/>
                <a:latin typeface="Arial" panose="020B0604020202020204" pitchFamily="34" charset="0"/>
              </a:rPr>
              <a:t>: Probit Regression is best at avoiding false positives but misses more buyers.</a:t>
            </a:r>
          </a:p>
        </p:txBody>
      </p:sp>
      <p:sp>
        <p:nvSpPr>
          <p:cNvPr id="17" name="TextBox 16">
            <a:extLst>
              <a:ext uri="{FF2B5EF4-FFF2-40B4-BE49-F238E27FC236}">
                <a16:creationId xmlns:a16="http://schemas.microsoft.com/office/drawing/2014/main" id="{F8BD99BE-2E6F-3537-C0E3-5A3EF7422545}"/>
              </a:ext>
            </a:extLst>
          </p:cNvPr>
          <p:cNvSpPr txBox="1"/>
          <p:nvPr/>
        </p:nvSpPr>
        <p:spPr>
          <a:xfrm>
            <a:off x="7896225" y="2017986"/>
            <a:ext cx="2562225" cy="369332"/>
          </a:xfrm>
          <a:prstGeom prst="rect">
            <a:avLst/>
          </a:prstGeom>
          <a:noFill/>
        </p:spPr>
        <p:txBody>
          <a:bodyPr wrap="square" rtlCol="0">
            <a:spAutoFit/>
          </a:bodyPr>
          <a:lstStyle/>
          <a:p>
            <a:r>
              <a:rPr lang="en-US" b="1" dirty="0"/>
              <a:t>Discussion</a:t>
            </a:r>
          </a:p>
        </p:txBody>
      </p:sp>
    </p:spTree>
    <p:extLst>
      <p:ext uri="{BB962C8B-B14F-4D97-AF65-F5344CB8AC3E}">
        <p14:creationId xmlns:p14="http://schemas.microsoft.com/office/powerpoint/2010/main" val="17859351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53111-C306-3E2E-C815-9DE9F197B762}"/>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BC3085D2-8D6F-A366-E4C4-E09ACB3B7D0F}"/>
              </a:ext>
            </a:extLst>
          </p:cNvPr>
          <p:cNvSpPr>
            <a:spLocks noGrp="1"/>
          </p:cNvSpPr>
          <p:nvPr>
            <p:ph type="title"/>
          </p:nvPr>
        </p:nvSpPr>
        <p:spPr>
          <a:xfrm>
            <a:off x="581193" y="729658"/>
            <a:ext cx="11029616" cy="988332"/>
          </a:xfrm>
        </p:spPr>
        <p:txBody>
          <a:bodyPr vert="horz" lIns="91440" tIns="45720" rIns="91440" bIns="45720" rtlCol="0" anchor="b">
            <a:normAutofit/>
          </a:bodyPr>
          <a:lstStyle/>
          <a:p>
            <a:r>
              <a:rPr lang="en-US" b="0" kern="1200" cap="all" dirty="0">
                <a:latin typeface="+mj-lt"/>
                <a:ea typeface="+mj-ea"/>
                <a:cs typeface="+mj-cs"/>
              </a:rPr>
              <a:t>RESEARCH RESULTS</a:t>
            </a:r>
            <a:br>
              <a:rPr lang="en-US" b="0" kern="1200" cap="all" dirty="0">
                <a:latin typeface="+mj-lt"/>
                <a:ea typeface="+mj-ea"/>
                <a:cs typeface="+mj-cs"/>
              </a:rPr>
            </a:br>
            <a:r>
              <a:rPr lang="en-US" b="0" kern="1200" cap="all" dirty="0">
                <a:latin typeface="+mj-lt"/>
                <a:ea typeface="+mj-ea"/>
                <a:cs typeface="+mj-cs"/>
              </a:rPr>
              <a:t>Variable Importance for </a:t>
            </a:r>
            <a:r>
              <a:rPr lang="en-US" dirty="0"/>
              <a:t>Logistic</a:t>
            </a:r>
            <a:r>
              <a:rPr lang="en-US" b="0" kern="1200" cap="all" dirty="0">
                <a:latin typeface="+mj-lt"/>
                <a:ea typeface="+mj-ea"/>
                <a:cs typeface="+mj-cs"/>
              </a:rPr>
              <a:t> Regression Model</a:t>
            </a:r>
          </a:p>
        </p:txBody>
      </p:sp>
      <p:pic>
        <p:nvPicPr>
          <p:cNvPr id="3" name="Picture 2">
            <a:extLst>
              <a:ext uri="{FF2B5EF4-FFF2-40B4-BE49-F238E27FC236}">
                <a16:creationId xmlns:a16="http://schemas.microsoft.com/office/drawing/2014/main" id="{74153BB7-C696-A2D1-C7D7-8AC1ECE09A41}"/>
              </a:ext>
            </a:extLst>
          </p:cNvPr>
          <p:cNvPicPr>
            <a:picLocks noChangeAspect="1"/>
          </p:cNvPicPr>
          <p:nvPr/>
        </p:nvPicPr>
        <p:blipFill>
          <a:blip r:embed="rId3"/>
          <a:srcRect r="5599" b="1"/>
          <a:stretch>
            <a:fillRect/>
          </a:stretch>
        </p:blipFill>
        <p:spPr>
          <a:xfrm>
            <a:off x="5514391" y="2266950"/>
            <a:ext cx="6461367" cy="4329161"/>
          </a:xfrm>
          <a:prstGeom prst="rect">
            <a:avLst/>
          </a:prstGeom>
          <a:noFill/>
        </p:spPr>
      </p:pic>
      <p:sp>
        <p:nvSpPr>
          <p:cNvPr id="2" name="TextBox 1">
            <a:extLst>
              <a:ext uri="{FF2B5EF4-FFF2-40B4-BE49-F238E27FC236}">
                <a16:creationId xmlns:a16="http://schemas.microsoft.com/office/drawing/2014/main" id="{74654793-167B-89DA-B4EF-2CA0BB3FA62B}"/>
              </a:ext>
            </a:extLst>
          </p:cNvPr>
          <p:cNvSpPr txBox="1"/>
          <p:nvPr/>
        </p:nvSpPr>
        <p:spPr>
          <a:xfrm>
            <a:off x="216242" y="1894628"/>
            <a:ext cx="5422392" cy="3633047"/>
          </a:xfrm>
          <a:prstGeom prst="rect">
            <a:avLst/>
          </a:prstGeom>
        </p:spPr>
        <p:txBody>
          <a:bodyPr vert="horz" lIns="91440" tIns="45720" rIns="91440" bIns="45720" rtlCol="0" anchor="ctr">
            <a:normAutofit/>
          </a:bodyPr>
          <a:lstStyle/>
          <a:p>
            <a:pPr marL="306000" indent="-306000">
              <a:spcBef>
                <a:spcPct val="20000"/>
              </a:spcBef>
              <a:spcAft>
                <a:spcPts val="600"/>
              </a:spcAft>
              <a:buClr>
                <a:schemeClr val="accent2"/>
              </a:buClr>
              <a:buSzPct val="92000"/>
              <a:buFont typeface="Wingdings 2" panose="05020102010507070707" pitchFamily="18" charset="2"/>
              <a:buChar char=""/>
            </a:pPr>
            <a:r>
              <a:rPr lang="en-US" dirty="0" err="1">
                <a:solidFill>
                  <a:schemeClr val="tx2"/>
                </a:solidFill>
              </a:rPr>
              <a:t>Previously_insured</a:t>
            </a:r>
            <a:r>
              <a:rPr lang="en-US" dirty="0">
                <a:solidFill>
                  <a:schemeClr val="tx2"/>
                </a:solidFill>
              </a:rPr>
              <a:t> variable is the most influential variable to outcome prediction</a:t>
            </a:r>
          </a:p>
        </p:txBody>
      </p:sp>
    </p:spTree>
    <p:extLst>
      <p:ext uri="{BB962C8B-B14F-4D97-AF65-F5344CB8AC3E}">
        <p14:creationId xmlns:p14="http://schemas.microsoft.com/office/powerpoint/2010/main" val="29249691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11626-4177-CD77-A848-0CCE34F0B5B3}"/>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C9F17AED-4C55-DDB8-7F9A-A8B5BA4F0826}"/>
              </a:ext>
            </a:extLst>
          </p:cNvPr>
          <p:cNvSpPr>
            <a:spLocks noGrp="1"/>
          </p:cNvSpPr>
          <p:nvPr>
            <p:ph type="title"/>
          </p:nvPr>
        </p:nvSpPr>
        <p:spPr>
          <a:xfrm>
            <a:off x="581193" y="729658"/>
            <a:ext cx="11029616" cy="988332"/>
          </a:xfrm>
        </p:spPr>
        <p:txBody>
          <a:bodyPr vert="horz" lIns="91440" tIns="45720" rIns="91440" bIns="45720" rtlCol="0" anchor="b">
            <a:normAutofit/>
          </a:bodyPr>
          <a:lstStyle/>
          <a:p>
            <a:r>
              <a:rPr lang="en-US" b="0" kern="1200" cap="all" dirty="0">
                <a:latin typeface="+mj-lt"/>
                <a:ea typeface="+mj-ea"/>
                <a:cs typeface="+mj-cs"/>
              </a:rPr>
              <a:t>RESEARCH RESULTS</a:t>
            </a:r>
            <a:br>
              <a:rPr lang="en-US" b="0" kern="1200" cap="all" dirty="0">
                <a:latin typeface="+mj-lt"/>
                <a:ea typeface="+mj-ea"/>
                <a:cs typeface="+mj-cs"/>
              </a:rPr>
            </a:br>
            <a:r>
              <a:rPr lang="en-US" b="0" kern="1200" cap="all" dirty="0">
                <a:latin typeface="+mj-lt"/>
                <a:ea typeface="+mj-ea"/>
                <a:cs typeface="+mj-cs"/>
              </a:rPr>
              <a:t>Variable Importance for </a:t>
            </a:r>
            <a:r>
              <a:rPr lang="en-US" b="0" kern="1200" cap="all">
                <a:latin typeface="+mj-lt"/>
                <a:ea typeface="+mj-ea"/>
                <a:cs typeface="+mj-cs"/>
              </a:rPr>
              <a:t>Probit</a:t>
            </a:r>
            <a:r>
              <a:rPr lang="en-US" b="0" kern="1200" cap="all" dirty="0">
                <a:latin typeface="+mj-lt"/>
                <a:ea typeface="+mj-ea"/>
                <a:cs typeface="+mj-cs"/>
              </a:rPr>
              <a:t> Regression Model</a:t>
            </a:r>
          </a:p>
        </p:txBody>
      </p:sp>
      <p:sp>
        <p:nvSpPr>
          <p:cNvPr id="2" name="TextBox 1">
            <a:extLst>
              <a:ext uri="{FF2B5EF4-FFF2-40B4-BE49-F238E27FC236}">
                <a16:creationId xmlns:a16="http://schemas.microsoft.com/office/drawing/2014/main" id="{9AC402CF-BA7B-B118-107A-8D1686DA3F02}"/>
              </a:ext>
            </a:extLst>
          </p:cNvPr>
          <p:cNvSpPr txBox="1"/>
          <p:nvPr/>
        </p:nvSpPr>
        <p:spPr>
          <a:xfrm>
            <a:off x="581193" y="2228003"/>
            <a:ext cx="5422390" cy="3633047"/>
          </a:xfrm>
          <a:prstGeom prst="rect">
            <a:avLst/>
          </a:prstGeom>
        </p:spPr>
        <p:txBody>
          <a:bodyPr vert="horz" lIns="91440" tIns="45720" rIns="91440" bIns="45720" rtlCol="0" anchor="ctr">
            <a:normAutofit/>
          </a:bodyPr>
          <a:lstStyle/>
          <a:p>
            <a:pPr marL="306000" indent="-306000">
              <a:spcBef>
                <a:spcPct val="20000"/>
              </a:spcBef>
              <a:spcAft>
                <a:spcPts val="600"/>
              </a:spcAft>
              <a:buClr>
                <a:schemeClr val="accent2"/>
              </a:buClr>
              <a:buSzPct val="92000"/>
              <a:buFont typeface="Wingdings 2" panose="05020102010507070707" pitchFamily="18" charset="2"/>
              <a:buChar char=""/>
            </a:pPr>
            <a:r>
              <a:rPr lang="en-US">
                <a:solidFill>
                  <a:schemeClr val="tx2"/>
                </a:solidFill>
              </a:rPr>
              <a:t>Previously_insured</a:t>
            </a:r>
            <a:r>
              <a:rPr lang="en-US" dirty="0">
                <a:solidFill>
                  <a:schemeClr val="tx2"/>
                </a:solidFill>
              </a:rPr>
              <a:t> variable is the most influential variable to outcome prediction</a:t>
            </a:r>
          </a:p>
        </p:txBody>
      </p:sp>
      <p:pic>
        <p:nvPicPr>
          <p:cNvPr id="8" name="Picture 7">
            <a:extLst>
              <a:ext uri="{FF2B5EF4-FFF2-40B4-BE49-F238E27FC236}">
                <a16:creationId xmlns:a16="http://schemas.microsoft.com/office/drawing/2014/main" id="{6488191C-B151-B1F2-DE47-7180BB61BEAB}"/>
              </a:ext>
            </a:extLst>
          </p:cNvPr>
          <p:cNvPicPr>
            <a:picLocks noChangeAspect="1"/>
          </p:cNvPicPr>
          <p:nvPr/>
        </p:nvPicPr>
        <p:blipFill>
          <a:blip r:embed="rId3"/>
          <a:stretch>
            <a:fillRect/>
          </a:stretch>
        </p:blipFill>
        <p:spPr>
          <a:xfrm>
            <a:off x="5563435" y="2117319"/>
            <a:ext cx="6390272" cy="4740681"/>
          </a:xfrm>
          <a:prstGeom prst="rect">
            <a:avLst/>
          </a:prstGeom>
          <a:noFill/>
        </p:spPr>
      </p:pic>
    </p:spTree>
    <p:extLst>
      <p:ext uri="{BB962C8B-B14F-4D97-AF65-F5344CB8AC3E}">
        <p14:creationId xmlns:p14="http://schemas.microsoft.com/office/powerpoint/2010/main" val="11167920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423FDC-1E1A-B146-DC3C-5EDD5A992EAD}"/>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BADF448E-5297-F26B-8AB8-5D77D121D729}"/>
              </a:ext>
            </a:extLst>
          </p:cNvPr>
          <p:cNvSpPr>
            <a:spLocks noGrp="1"/>
          </p:cNvSpPr>
          <p:nvPr>
            <p:ph type="title"/>
          </p:nvPr>
        </p:nvSpPr>
        <p:spPr>
          <a:xfrm>
            <a:off x="581192" y="702156"/>
            <a:ext cx="11029616" cy="1013800"/>
          </a:xfrm>
        </p:spPr>
        <p:txBody>
          <a:bodyPr anchor="b">
            <a:normAutofit/>
          </a:bodyPr>
          <a:lstStyle/>
          <a:p>
            <a:r>
              <a:rPr lang="en-US" b="1"/>
              <a:t>RESEARCH RESULTS</a:t>
            </a:r>
            <a:br>
              <a:rPr lang="en-US" b="1"/>
            </a:br>
            <a:r>
              <a:rPr lang="en-US" b="1" cap="none">
                <a:solidFill>
                  <a:srgbClr val="FB9205"/>
                </a:solidFill>
              </a:rPr>
              <a:t>Variable Importance for Random Forest Model</a:t>
            </a:r>
            <a:endParaRPr lang="en-US" dirty="0">
              <a:solidFill>
                <a:srgbClr val="FB9205"/>
              </a:solidFill>
            </a:endParaRPr>
          </a:p>
        </p:txBody>
      </p:sp>
      <p:sp>
        <p:nvSpPr>
          <p:cNvPr id="6" name="TextBox 5">
            <a:extLst>
              <a:ext uri="{FF2B5EF4-FFF2-40B4-BE49-F238E27FC236}">
                <a16:creationId xmlns:a16="http://schemas.microsoft.com/office/drawing/2014/main" id="{B252C10C-1661-3902-458D-3C84B3A8508A}"/>
              </a:ext>
            </a:extLst>
          </p:cNvPr>
          <p:cNvSpPr txBox="1"/>
          <p:nvPr/>
        </p:nvSpPr>
        <p:spPr>
          <a:xfrm>
            <a:off x="138546" y="2874070"/>
            <a:ext cx="5052290" cy="646331"/>
          </a:xfrm>
          <a:prstGeom prst="rect">
            <a:avLst/>
          </a:prstGeom>
          <a:noFill/>
        </p:spPr>
        <p:txBody>
          <a:bodyPr wrap="square">
            <a:spAutoFit/>
          </a:bodyPr>
          <a:lstStyle/>
          <a:p>
            <a:pPr marL="285750" indent="-285750">
              <a:buFont typeface="Wingdings" panose="05000000000000000000" pitchFamily="2" charset="2"/>
              <a:buChar char="v"/>
            </a:pPr>
            <a:r>
              <a:rPr lang="en-US" dirty="0" err="1"/>
              <a:t>Previously_insured</a:t>
            </a:r>
            <a:r>
              <a:rPr lang="en-US" dirty="0"/>
              <a:t> variable is the most influential variable to outcome prediction</a:t>
            </a:r>
          </a:p>
        </p:txBody>
      </p:sp>
      <p:pic>
        <p:nvPicPr>
          <p:cNvPr id="7" name="Picture 6">
            <a:extLst>
              <a:ext uri="{FF2B5EF4-FFF2-40B4-BE49-F238E27FC236}">
                <a16:creationId xmlns:a16="http://schemas.microsoft.com/office/drawing/2014/main" id="{8B376FFD-92B8-24C1-F1B0-9FF11C1AACB4}"/>
              </a:ext>
            </a:extLst>
          </p:cNvPr>
          <p:cNvPicPr>
            <a:picLocks noChangeAspect="1"/>
          </p:cNvPicPr>
          <p:nvPr/>
        </p:nvPicPr>
        <p:blipFill>
          <a:blip r:embed="rId3"/>
          <a:stretch>
            <a:fillRect/>
          </a:stretch>
        </p:blipFill>
        <p:spPr>
          <a:xfrm>
            <a:off x="5004258" y="2009776"/>
            <a:ext cx="6778074" cy="4752974"/>
          </a:xfrm>
          <a:prstGeom prst="rect">
            <a:avLst/>
          </a:prstGeom>
        </p:spPr>
      </p:pic>
    </p:spTree>
    <p:extLst>
      <p:ext uri="{BB962C8B-B14F-4D97-AF65-F5344CB8AC3E}">
        <p14:creationId xmlns:p14="http://schemas.microsoft.com/office/powerpoint/2010/main" val="6832536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29AE2-B070-5CA0-10CA-6EFA669829BA}"/>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731E1685-09EB-BD64-92B4-F0224086ECDF}"/>
              </a:ext>
            </a:extLst>
          </p:cNvPr>
          <p:cNvSpPr>
            <a:spLocks noGrp="1"/>
          </p:cNvSpPr>
          <p:nvPr>
            <p:ph type="title"/>
          </p:nvPr>
        </p:nvSpPr>
        <p:spPr>
          <a:xfrm>
            <a:off x="581193" y="729658"/>
            <a:ext cx="11029616" cy="988332"/>
          </a:xfrm>
        </p:spPr>
        <p:txBody>
          <a:bodyPr vert="horz" lIns="91440" tIns="45720" rIns="91440" bIns="45720" rtlCol="0" anchor="b">
            <a:normAutofit/>
          </a:bodyPr>
          <a:lstStyle/>
          <a:p>
            <a:r>
              <a:rPr lang="en-US" b="0" kern="1200" cap="all">
                <a:latin typeface="+mj-lt"/>
                <a:ea typeface="+mj-ea"/>
                <a:cs typeface="+mj-cs"/>
              </a:rPr>
              <a:t>RESEARCH RESULTS</a:t>
            </a:r>
            <a:br>
              <a:rPr lang="en-US" b="0" kern="1200" cap="all">
                <a:latin typeface="+mj-lt"/>
                <a:ea typeface="+mj-ea"/>
                <a:cs typeface="+mj-cs"/>
              </a:rPr>
            </a:br>
            <a:r>
              <a:rPr lang="en-US" b="0" kern="1200" cap="all">
                <a:latin typeface="+mj-lt"/>
                <a:ea typeface="+mj-ea"/>
                <a:cs typeface="+mj-cs"/>
              </a:rPr>
              <a:t>Variable Importance for XGBOOST Model</a:t>
            </a:r>
          </a:p>
        </p:txBody>
      </p:sp>
      <p:sp>
        <p:nvSpPr>
          <p:cNvPr id="2" name="TextBox 1">
            <a:extLst>
              <a:ext uri="{FF2B5EF4-FFF2-40B4-BE49-F238E27FC236}">
                <a16:creationId xmlns:a16="http://schemas.microsoft.com/office/drawing/2014/main" id="{5FD615FE-0037-C577-2784-9E4A0C0C05C0}"/>
              </a:ext>
            </a:extLst>
          </p:cNvPr>
          <p:cNvSpPr txBox="1"/>
          <p:nvPr/>
        </p:nvSpPr>
        <p:spPr>
          <a:xfrm>
            <a:off x="238125" y="2142278"/>
            <a:ext cx="5422390" cy="3633047"/>
          </a:xfrm>
          <a:prstGeom prst="rect">
            <a:avLst/>
          </a:prstGeom>
        </p:spPr>
        <p:txBody>
          <a:bodyPr vert="horz" lIns="91440" tIns="45720" rIns="91440" bIns="45720" rtlCol="0" anchor="ctr">
            <a:normAutofit/>
          </a:bodyPr>
          <a:lstStyle/>
          <a:p>
            <a:pPr marL="306000" indent="-306000">
              <a:spcBef>
                <a:spcPct val="20000"/>
              </a:spcBef>
              <a:spcAft>
                <a:spcPts val="600"/>
              </a:spcAft>
              <a:buClr>
                <a:schemeClr val="accent2"/>
              </a:buClr>
              <a:buSzPct val="92000"/>
              <a:buFont typeface="Wingdings 2" panose="05020102010507070707" pitchFamily="18" charset="2"/>
              <a:buChar char=""/>
            </a:pPr>
            <a:r>
              <a:rPr lang="en-US" dirty="0">
                <a:solidFill>
                  <a:schemeClr val="tx2"/>
                </a:solidFill>
              </a:rPr>
              <a:t>Vehicle damage variable is the most influential variable to outcome prediction</a:t>
            </a:r>
          </a:p>
        </p:txBody>
      </p:sp>
      <p:pic>
        <p:nvPicPr>
          <p:cNvPr id="3" name="Picture 2">
            <a:extLst>
              <a:ext uri="{FF2B5EF4-FFF2-40B4-BE49-F238E27FC236}">
                <a16:creationId xmlns:a16="http://schemas.microsoft.com/office/drawing/2014/main" id="{847D5841-28C4-B598-FA0A-4AAADE50C950}"/>
              </a:ext>
            </a:extLst>
          </p:cNvPr>
          <p:cNvPicPr>
            <a:picLocks noChangeAspect="1"/>
          </p:cNvPicPr>
          <p:nvPr/>
        </p:nvPicPr>
        <p:blipFill>
          <a:blip r:embed="rId3"/>
          <a:srcRect r="5599" b="1"/>
          <a:stretch>
            <a:fillRect/>
          </a:stretch>
        </p:blipFill>
        <p:spPr>
          <a:xfrm>
            <a:off x="5126937" y="1998146"/>
            <a:ext cx="6826938" cy="4859853"/>
          </a:xfrm>
          <a:prstGeom prst="rect">
            <a:avLst/>
          </a:prstGeom>
          <a:noFill/>
        </p:spPr>
      </p:pic>
    </p:spTree>
    <p:extLst>
      <p:ext uri="{BB962C8B-B14F-4D97-AF65-F5344CB8AC3E}">
        <p14:creationId xmlns:p14="http://schemas.microsoft.com/office/powerpoint/2010/main" val="13188787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D5A1E-218A-4033-8FCE-31B33C2436C5}"/>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79574F12-EA76-38AB-C65D-5B593F48FF17}"/>
              </a:ext>
            </a:extLst>
          </p:cNvPr>
          <p:cNvSpPr>
            <a:spLocks noGrp="1"/>
          </p:cNvSpPr>
          <p:nvPr>
            <p:ph type="title"/>
          </p:nvPr>
        </p:nvSpPr>
        <p:spPr>
          <a:xfrm>
            <a:off x="476250" y="962025"/>
            <a:ext cx="11029616" cy="438150"/>
          </a:xfrm>
        </p:spPr>
        <p:txBody>
          <a:bodyPr anchor="b">
            <a:normAutofit fontScale="90000"/>
          </a:bodyPr>
          <a:lstStyle/>
          <a:p>
            <a:r>
              <a:rPr lang="en-US" dirty="0">
                <a:solidFill>
                  <a:srgbClr val="FB9205"/>
                </a:solidFill>
              </a:rPr>
              <a:t>conclusion</a:t>
            </a:r>
          </a:p>
        </p:txBody>
      </p:sp>
      <p:sp>
        <p:nvSpPr>
          <p:cNvPr id="5" name="TextBox 4">
            <a:extLst>
              <a:ext uri="{FF2B5EF4-FFF2-40B4-BE49-F238E27FC236}">
                <a16:creationId xmlns:a16="http://schemas.microsoft.com/office/drawing/2014/main" id="{74A7B36B-ED7B-3C7A-9F81-3113D0326B71}"/>
              </a:ext>
            </a:extLst>
          </p:cNvPr>
          <p:cNvSpPr txBox="1"/>
          <p:nvPr/>
        </p:nvSpPr>
        <p:spPr>
          <a:xfrm>
            <a:off x="476250" y="1905000"/>
            <a:ext cx="11487150" cy="2308324"/>
          </a:xfrm>
          <a:prstGeom prst="rect">
            <a:avLst/>
          </a:prstGeom>
          <a:noFill/>
        </p:spPr>
        <p:txBody>
          <a:bodyPr wrap="square">
            <a:spAutoFit/>
          </a:bodyPr>
          <a:lstStyle/>
          <a:p>
            <a:pPr marL="285750" indent="-285750">
              <a:buFont typeface="Wingdings" panose="05000000000000000000" pitchFamily="2" charset="2"/>
              <a:buChar char="v"/>
            </a:pPr>
            <a:r>
              <a:rPr lang="en-US" dirty="0"/>
              <a:t>After completing the analysis, a comparison was conducted between Logistic Regression (traditional actuarial model) and Machine Learning models (Random Forest and </a:t>
            </a:r>
            <a:r>
              <a:rPr lang="en-US" dirty="0" err="1"/>
              <a:t>XGBoost</a:t>
            </a:r>
            <a:r>
              <a:rPr lang="en-US" dirty="0"/>
              <a:t>) to determine the best model for predicting whether customers are interested in purchasing vehicle insurance.</a:t>
            </a:r>
          </a:p>
          <a:p>
            <a:pPr marL="285750" indent="-285750">
              <a:buFont typeface="Wingdings" panose="05000000000000000000" pitchFamily="2" charset="2"/>
              <a:buChar char="v"/>
            </a:pPr>
            <a:endParaRPr lang="en-US" dirty="0"/>
          </a:p>
          <a:p>
            <a:pPr marL="285750" indent="-285750">
              <a:buFont typeface="Wingdings" panose="05000000000000000000" pitchFamily="2" charset="2"/>
              <a:buChar char="v"/>
            </a:pPr>
            <a:r>
              <a:rPr lang="en-US" dirty="0"/>
              <a:t>Evaluation metrics used included sensitivity (recall), precision, balanced accuracy, and ROC-AUC to assess overall model performance.</a:t>
            </a:r>
          </a:p>
          <a:p>
            <a:pPr marL="285750" indent="-285750">
              <a:buFont typeface="Wingdings" panose="05000000000000000000" pitchFamily="2" charset="2"/>
              <a:buChar char="v"/>
            </a:pPr>
            <a:endParaRPr lang="en-US" dirty="0"/>
          </a:p>
          <a:p>
            <a:pPr marL="285750" indent="-285750">
              <a:buFont typeface="Wingdings" panose="05000000000000000000" pitchFamily="2" charset="2"/>
              <a:buChar char="v"/>
            </a:pPr>
            <a:endParaRPr lang="en-US" dirty="0"/>
          </a:p>
        </p:txBody>
      </p:sp>
      <p:sp>
        <p:nvSpPr>
          <p:cNvPr id="8" name="Rectangle 3">
            <a:extLst>
              <a:ext uri="{FF2B5EF4-FFF2-40B4-BE49-F238E27FC236}">
                <a16:creationId xmlns:a16="http://schemas.microsoft.com/office/drawing/2014/main" id="{9F6735FD-A2B0-5A98-6258-896A0641A136}"/>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2" name="Rectangle 4">
            <a:extLst>
              <a:ext uri="{FF2B5EF4-FFF2-40B4-BE49-F238E27FC236}">
                <a16:creationId xmlns:a16="http://schemas.microsoft.com/office/drawing/2014/main" id="{98D83246-C27A-EDFB-CC65-F2AE1F6B6FAB}"/>
              </a:ext>
            </a:extLst>
          </p:cNvPr>
          <p:cNvSpPr>
            <a:spLocks noChangeArrowheads="1"/>
          </p:cNvSpPr>
          <p:nvPr/>
        </p:nvSpPr>
        <p:spPr bwMode="auto">
          <a:xfrm>
            <a:off x="476250" y="2394465"/>
            <a:ext cx="11239499"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lang="en-US" altLang="en-US" dirty="0">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0" i="0" u="none" strike="noStrike" cap="none" normalizeH="0" baseline="0" dirty="0">
                <a:ln>
                  <a:noFill/>
                </a:ln>
                <a:solidFill>
                  <a:schemeClr val="tx1"/>
                </a:solidFill>
                <a:effectLst/>
                <a:latin typeface="Arial" panose="020B0604020202020204" pitchFamily="34" charset="0"/>
              </a:rPr>
              <a:t>Sensitivity (recall) was identified as the most important metric, as the goal is to correctly identify potential insurance buyers.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lang="en-US" altLang="en-US" dirty="0">
              <a:latin typeface="Arial" panose="020B0604020202020204" pitchFamily="34" charset="0"/>
            </a:endParaRPr>
          </a:p>
          <a:p>
            <a:pPr marL="285750" lvl="0" indent="-285750" defTabSz="914400" eaLnBrk="0" fontAlgn="base" hangingPunct="0">
              <a:spcBef>
                <a:spcPct val="0"/>
              </a:spcBef>
              <a:spcAft>
                <a:spcPct val="0"/>
              </a:spcAft>
              <a:buFont typeface="Wingdings" panose="05000000000000000000" pitchFamily="2" charset="2"/>
              <a:buChar char="v"/>
            </a:pPr>
            <a:r>
              <a:rPr lang="en-US" dirty="0"/>
              <a:t>The Machine Learning models outperformed the traditional model, with Random Forest achieving the highest sensitivity, followed closely by </a:t>
            </a:r>
            <a:r>
              <a:rPr lang="en-US" dirty="0" err="1"/>
              <a:t>XGBoost</a:t>
            </a:r>
            <a:r>
              <a:rPr lang="en-US" dirty="0"/>
              <a:t>.</a:t>
            </a:r>
          </a:p>
          <a:p>
            <a:pPr marL="285750" lvl="0" indent="-285750" defTabSz="914400" eaLnBrk="0" fontAlgn="base" hangingPunct="0">
              <a:spcBef>
                <a:spcPct val="0"/>
              </a:spcBef>
              <a:spcAft>
                <a:spcPct val="0"/>
              </a:spcAft>
              <a:buFont typeface="Wingdings" panose="05000000000000000000" pitchFamily="2" charset="2"/>
              <a:buChar char="v"/>
            </a:pPr>
            <a:endParaRPr lang="en-US" dirty="0"/>
          </a:p>
          <a:p>
            <a:pPr marL="285750" lvl="0" indent="-285750" defTabSz="914400" eaLnBrk="0" fontAlgn="base" hangingPunct="0">
              <a:spcBef>
                <a:spcPct val="0"/>
              </a:spcBef>
              <a:spcAft>
                <a:spcPct val="0"/>
              </a:spcAft>
              <a:buFont typeface="Wingdings" panose="05000000000000000000" pitchFamily="2" charset="2"/>
              <a:buChar char="v"/>
            </a:pPr>
            <a:r>
              <a:rPr lang="en-US" dirty="0" err="1"/>
              <a:t>Overally</a:t>
            </a:r>
            <a:r>
              <a:rPr lang="en-US" dirty="0"/>
              <a:t>, Previously Insured,  Policy Sales Channel ,  and Vehicle </a:t>
            </a:r>
            <a:r>
              <a:rPr lang="en-US" dirty="0" err="1"/>
              <a:t>Damagewere</a:t>
            </a:r>
            <a:r>
              <a:rPr lang="en-US" dirty="0"/>
              <a:t> the most influential variables. </a:t>
            </a:r>
          </a:p>
          <a:p>
            <a:pPr marL="285750" lvl="0" indent="-285750" defTabSz="914400" eaLnBrk="0" fontAlgn="base" hangingPunct="0">
              <a:spcBef>
                <a:spcPct val="0"/>
              </a:spcBef>
              <a:spcAft>
                <a:spcPct val="0"/>
              </a:spcAft>
              <a:buFont typeface="Wingdings" panose="05000000000000000000" pitchFamily="2" charset="2"/>
              <a:buChar char="v"/>
            </a:pPr>
            <a:endParaRPr lang="en-US" dirty="0"/>
          </a:p>
          <a:p>
            <a:pPr lvl="0" defTabSz="914400" eaLnBrk="0" fontAlgn="base" hangingPunct="0">
              <a:spcBef>
                <a:spcPct val="0"/>
              </a:spcBef>
              <a:spcAft>
                <a:spcPct val="0"/>
              </a:spcAft>
            </a:pPr>
            <a:endParaRPr lang="en-US" dirty="0"/>
          </a:p>
          <a:p>
            <a:pPr marL="285750" lvl="0" indent="-285750" defTabSz="914400" eaLnBrk="0" fontAlgn="base" hangingPunct="0">
              <a:spcBef>
                <a:spcPct val="0"/>
              </a:spcBef>
              <a:spcAft>
                <a:spcPct val="0"/>
              </a:spcAft>
              <a:buFont typeface="Wingdings" panose="05000000000000000000" pitchFamily="2" charset="2"/>
              <a:buChar char="v"/>
            </a:pPr>
            <a:endParaRPr lang="en-US" dirty="0"/>
          </a:p>
          <a:p>
            <a:pPr marL="285750" lvl="0" indent="-285750" defTabSz="914400" eaLnBrk="0" fontAlgn="base" hangingPunct="0">
              <a:spcBef>
                <a:spcPct val="0"/>
              </a:spcBef>
              <a:spcAft>
                <a:spcPct val="0"/>
              </a:spcAft>
              <a:buFont typeface="Wingdings" panose="05000000000000000000" pitchFamily="2" charset="2"/>
              <a:buChar char="v"/>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lvl="0" indent="-285750" defTabSz="914400" eaLnBrk="0" fontAlgn="base" hangingPunct="0">
              <a:spcBef>
                <a:spcPct val="0"/>
              </a:spcBef>
              <a:spcAft>
                <a:spcPct val="0"/>
              </a:spcAft>
              <a:buFont typeface="Wingdings" panose="05000000000000000000" pitchFamily="2" charset="2"/>
              <a:buChar char="v"/>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463613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C39C8AC-F340-49BA-C622-703AE702B442}"/>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329A9F4F-98CB-7624-2922-9C565BD068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Content Placeholder 4" descr="Digital Numbers">
            <a:extLst>
              <a:ext uri="{FF2B5EF4-FFF2-40B4-BE49-F238E27FC236}">
                <a16:creationId xmlns:a16="http://schemas.microsoft.com/office/drawing/2014/main" id="{1F88656E-6E83-351E-5B2B-A0AA58077E3E}"/>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t="10681" r="9091" b="12711"/>
          <a:stretch/>
        </p:blipFill>
        <p:spPr>
          <a:xfrm>
            <a:off x="-2500" y="0"/>
            <a:ext cx="12191980" cy="6857990"/>
          </a:xfrm>
          <a:prstGeom prst="rect">
            <a:avLst/>
          </a:prstGeom>
        </p:spPr>
      </p:pic>
      <p:grpSp>
        <p:nvGrpSpPr>
          <p:cNvPr id="15" name="Group 14">
            <a:extLst>
              <a:ext uri="{FF2B5EF4-FFF2-40B4-BE49-F238E27FC236}">
                <a16:creationId xmlns:a16="http://schemas.microsoft.com/office/drawing/2014/main" id="{D40EDC8A-321D-08AB-7D12-9D186B4E9F6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38067" y="457200"/>
            <a:ext cx="7507083" cy="5935132"/>
            <a:chOff x="438067" y="457200"/>
            <a:chExt cx="7507083" cy="5935132"/>
          </a:xfrm>
        </p:grpSpPr>
        <p:sp>
          <p:nvSpPr>
            <p:cNvPr id="16" name="Rectangle 15">
              <a:extLst>
                <a:ext uri="{FF2B5EF4-FFF2-40B4-BE49-F238E27FC236}">
                  <a16:creationId xmlns:a16="http://schemas.microsoft.com/office/drawing/2014/main" id="{E906D5C1-8E06-9FFF-7343-1729E1088C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067" y="618067"/>
              <a:ext cx="7503665" cy="5774265"/>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16">
              <a:extLst>
                <a:ext uri="{FF2B5EF4-FFF2-40B4-BE49-F238E27FC236}">
                  <a16:creationId xmlns:a16="http://schemas.microsoft.com/office/drawing/2014/main" id="{B8439A77-C17F-712A-EC0D-61A3254109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068"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17">
              <a:extLst>
                <a:ext uri="{FF2B5EF4-FFF2-40B4-BE49-F238E27FC236}">
                  <a16:creationId xmlns:a16="http://schemas.microsoft.com/office/drawing/2014/main" id="{54A51656-E660-966F-164F-C5A39E49E3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a:extLst>
              <a:ext uri="{FF2B5EF4-FFF2-40B4-BE49-F238E27FC236}">
                <a16:creationId xmlns:a16="http://schemas.microsoft.com/office/drawing/2014/main" id="{5AC25F11-74E0-89AC-5A2C-44AA91BD3764}"/>
              </a:ext>
            </a:extLst>
          </p:cNvPr>
          <p:cNvSpPr>
            <a:spLocks noGrp="1"/>
          </p:cNvSpPr>
          <p:nvPr>
            <p:ph type="title"/>
          </p:nvPr>
        </p:nvSpPr>
        <p:spPr>
          <a:xfrm>
            <a:off x="584200" y="1006956"/>
            <a:ext cx="7213600" cy="1121871"/>
          </a:xfrm>
        </p:spPr>
        <p:txBody>
          <a:bodyPr anchor="ctr">
            <a:normAutofit/>
          </a:bodyPr>
          <a:lstStyle/>
          <a:p>
            <a:pPr algn="ctr"/>
            <a:r>
              <a:rPr lang="en-US" dirty="0">
                <a:solidFill>
                  <a:srgbClr val="FB9205"/>
                </a:solidFill>
              </a:rPr>
              <a:t>Limitations</a:t>
            </a:r>
          </a:p>
        </p:txBody>
      </p:sp>
      <p:graphicFrame>
        <p:nvGraphicFramePr>
          <p:cNvPr id="6" name="Content Placeholder 5" descr="SmartArt">
            <a:extLst>
              <a:ext uri="{FF2B5EF4-FFF2-40B4-BE49-F238E27FC236}">
                <a16:creationId xmlns:a16="http://schemas.microsoft.com/office/drawing/2014/main" id="{EB8D5B1D-497E-E81E-0912-2F45DF2DFAAB}"/>
              </a:ext>
            </a:extLst>
          </p:cNvPr>
          <p:cNvGraphicFramePr>
            <a:graphicFrameLocks noGrp="1"/>
          </p:cNvGraphicFramePr>
          <p:nvPr>
            <p:ph idx="1"/>
          </p:nvPr>
        </p:nvGraphicFramePr>
        <p:xfrm>
          <a:off x="814706" y="1876425"/>
          <a:ext cx="6854248" cy="382861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TextBox 3">
            <a:extLst>
              <a:ext uri="{FF2B5EF4-FFF2-40B4-BE49-F238E27FC236}">
                <a16:creationId xmlns:a16="http://schemas.microsoft.com/office/drawing/2014/main" id="{2A3B135D-7508-2E1A-05A7-23317F6875C2}"/>
              </a:ext>
            </a:extLst>
          </p:cNvPr>
          <p:cNvSpPr txBox="1"/>
          <p:nvPr/>
        </p:nvSpPr>
        <p:spPr>
          <a:xfrm>
            <a:off x="541928" y="2098772"/>
            <a:ext cx="7127026" cy="3416320"/>
          </a:xfrm>
          <a:prstGeom prst="rect">
            <a:avLst/>
          </a:prstGeom>
          <a:noFill/>
        </p:spPr>
        <p:txBody>
          <a:bodyPr wrap="square" rtlCol="0">
            <a:spAutoFit/>
          </a:bodyPr>
          <a:lstStyle/>
          <a:p>
            <a:pPr marL="285750" indent="-285750">
              <a:buFont typeface="Wingdings" panose="05000000000000000000" pitchFamily="2" charset="2"/>
              <a:buChar char="v"/>
            </a:pPr>
            <a:r>
              <a:rPr lang="en-US" dirty="0"/>
              <a:t>Data was imbalanced there was a larger proportion of non-buyers than buyers, which can affect model prediction.</a:t>
            </a:r>
          </a:p>
          <a:p>
            <a:pPr marL="285750" indent="-285750">
              <a:buFont typeface="Wingdings" panose="05000000000000000000" pitchFamily="2" charset="2"/>
              <a:buChar char="v"/>
            </a:pPr>
            <a:endParaRPr lang="en-US" dirty="0"/>
          </a:p>
          <a:p>
            <a:pPr marL="285750" indent="-285750">
              <a:buFont typeface="Wingdings" panose="05000000000000000000" pitchFamily="2" charset="2"/>
              <a:buChar char="v"/>
            </a:pPr>
            <a:r>
              <a:rPr lang="en-US" dirty="0"/>
              <a:t>The data set from Kaggle may not be a full representation of the real world data for vehicle insurance.</a:t>
            </a:r>
          </a:p>
          <a:p>
            <a:pPr marL="285750" indent="-285750">
              <a:buFont typeface="Wingdings" panose="05000000000000000000" pitchFamily="2" charset="2"/>
              <a:buChar char="v"/>
            </a:pPr>
            <a:endParaRPr lang="en-US" dirty="0"/>
          </a:p>
          <a:p>
            <a:pPr marL="285750" indent="-285750">
              <a:buFont typeface="Wingdings" panose="05000000000000000000" pitchFamily="2" charset="2"/>
              <a:buChar char="v"/>
            </a:pPr>
            <a:r>
              <a:rPr lang="en-US" dirty="0"/>
              <a:t>Only one traditional and two machine learning models were tested, therefore other models might achieve better results.</a:t>
            </a:r>
          </a:p>
          <a:p>
            <a:pPr marL="285750" indent="-285750">
              <a:buFont typeface="Wingdings" panose="05000000000000000000" pitchFamily="2" charset="2"/>
              <a:buChar char="v"/>
            </a:pPr>
            <a:endParaRPr lang="en-US" dirty="0"/>
          </a:p>
          <a:p>
            <a:pPr marL="285750" indent="-285750">
              <a:buFont typeface="Wingdings" panose="05000000000000000000" pitchFamily="2" charset="2"/>
              <a:buChar char="v"/>
            </a:pPr>
            <a:r>
              <a:rPr lang="en-US" dirty="0"/>
              <a:t>Although Machine Learning models results in higher predictability and can handle large diverse datasets, they are not as good for interpretability as traditional models like Logistic regression.</a:t>
            </a:r>
          </a:p>
        </p:txBody>
      </p:sp>
    </p:spTree>
    <p:extLst>
      <p:ext uri="{BB962C8B-B14F-4D97-AF65-F5344CB8AC3E}">
        <p14:creationId xmlns:p14="http://schemas.microsoft.com/office/powerpoint/2010/main" val="11898251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4AE9D071-98CF-435C-BD2B-976514544D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Content Placeholder 4" descr="Digital Numbers">
            <a:extLst>
              <a:ext uri="{FF2B5EF4-FFF2-40B4-BE49-F238E27FC236}">
                <a16:creationId xmlns:a16="http://schemas.microsoft.com/office/drawing/2014/main" id="{EA70616B-E344-4856-8DF9-707C26236613}"/>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t="10681" r="9091" b="12711"/>
          <a:stretch/>
        </p:blipFill>
        <p:spPr>
          <a:xfrm>
            <a:off x="-2500" y="0"/>
            <a:ext cx="12191980" cy="6857990"/>
          </a:xfrm>
          <a:prstGeom prst="rect">
            <a:avLst/>
          </a:prstGeom>
        </p:spPr>
      </p:pic>
      <p:grpSp>
        <p:nvGrpSpPr>
          <p:cNvPr id="15" name="Group 14">
            <a:extLst>
              <a:ext uri="{FF2B5EF4-FFF2-40B4-BE49-F238E27FC236}">
                <a16:creationId xmlns:a16="http://schemas.microsoft.com/office/drawing/2014/main" id="{D619FC33-16ED-4246-9596-BEFEB55E4CF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38067" y="457200"/>
            <a:ext cx="7507083" cy="5935132"/>
            <a:chOff x="438067" y="457200"/>
            <a:chExt cx="7507083" cy="5935132"/>
          </a:xfrm>
        </p:grpSpPr>
        <p:sp>
          <p:nvSpPr>
            <p:cNvPr id="16" name="Rectangle 15">
              <a:extLst>
                <a:ext uri="{FF2B5EF4-FFF2-40B4-BE49-F238E27FC236}">
                  <a16:creationId xmlns:a16="http://schemas.microsoft.com/office/drawing/2014/main" id="{2EEA80E1-F99F-4009-837F-2F72F8A5D5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067" y="618067"/>
              <a:ext cx="7503665" cy="5774265"/>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16">
              <a:extLst>
                <a:ext uri="{FF2B5EF4-FFF2-40B4-BE49-F238E27FC236}">
                  <a16:creationId xmlns:a16="http://schemas.microsoft.com/office/drawing/2014/main" id="{0230AF9A-4641-4BD8-9F95-9607CD3040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068"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17">
              <a:extLst>
                <a:ext uri="{FF2B5EF4-FFF2-40B4-BE49-F238E27FC236}">
                  <a16:creationId xmlns:a16="http://schemas.microsoft.com/office/drawing/2014/main" id="{8703D4EC-9389-41B6-B88B-B6FDC8CD33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a:extLst>
              <a:ext uri="{FF2B5EF4-FFF2-40B4-BE49-F238E27FC236}">
                <a16:creationId xmlns:a16="http://schemas.microsoft.com/office/drawing/2014/main" id="{7F2616EE-270D-4F4C-BA1F-2708D387B800}"/>
              </a:ext>
            </a:extLst>
          </p:cNvPr>
          <p:cNvSpPr>
            <a:spLocks noGrp="1"/>
          </p:cNvSpPr>
          <p:nvPr>
            <p:ph type="title"/>
          </p:nvPr>
        </p:nvSpPr>
        <p:spPr>
          <a:xfrm>
            <a:off x="584200" y="1006956"/>
            <a:ext cx="7213600" cy="1121871"/>
          </a:xfrm>
        </p:spPr>
        <p:txBody>
          <a:bodyPr anchor="ctr">
            <a:normAutofit/>
          </a:bodyPr>
          <a:lstStyle/>
          <a:p>
            <a:pPr algn="ctr"/>
            <a:r>
              <a:rPr lang="en-US" dirty="0">
                <a:solidFill>
                  <a:srgbClr val="FB9205"/>
                </a:solidFill>
              </a:rPr>
              <a:t>References</a:t>
            </a:r>
          </a:p>
        </p:txBody>
      </p:sp>
      <p:graphicFrame>
        <p:nvGraphicFramePr>
          <p:cNvPr id="6" name="Content Placeholder 5" descr="SmartArt">
            <a:extLst>
              <a:ext uri="{FF2B5EF4-FFF2-40B4-BE49-F238E27FC236}">
                <a16:creationId xmlns:a16="http://schemas.microsoft.com/office/drawing/2014/main" id="{BF629521-FFD2-45DA-9D1D-A5F09BD5A2D9}"/>
              </a:ext>
            </a:extLst>
          </p:cNvPr>
          <p:cNvGraphicFramePr>
            <a:graphicFrameLocks noGrp="1"/>
          </p:cNvGraphicFramePr>
          <p:nvPr>
            <p:ph idx="1"/>
            <p:extLst>
              <p:ext uri="{D42A27DB-BD31-4B8C-83A1-F6EECF244321}">
                <p14:modId xmlns:p14="http://schemas.microsoft.com/office/powerpoint/2010/main" val="1914608866"/>
              </p:ext>
            </p:extLst>
          </p:nvPr>
        </p:nvGraphicFramePr>
        <p:xfrm>
          <a:off x="814706" y="1876425"/>
          <a:ext cx="6854248" cy="382861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TextBox 3">
            <a:extLst>
              <a:ext uri="{FF2B5EF4-FFF2-40B4-BE49-F238E27FC236}">
                <a16:creationId xmlns:a16="http://schemas.microsoft.com/office/drawing/2014/main" id="{AA211B21-904D-D106-4CFF-DB057489A2A3}"/>
              </a:ext>
            </a:extLst>
          </p:cNvPr>
          <p:cNvSpPr txBox="1"/>
          <p:nvPr/>
        </p:nvSpPr>
        <p:spPr>
          <a:xfrm>
            <a:off x="541928" y="2098772"/>
            <a:ext cx="7127026" cy="3416320"/>
          </a:xfrm>
          <a:prstGeom prst="rect">
            <a:avLst/>
          </a:prstGeom>
          <a:noFill/>
        </p:spPr>
        <p:txBody>
          <a:bodyPr wrap="square" rtlCol="0">
            <a:spAutoFit/>
          </a:bodyPr>
          <a:lstStyle/>
          <a:p>
            <a:pPr marL="285750" indent="-285750">
              <a:buFont typeface="Wingdings" panose="05000000000000000000" pitchFamily="2" charset="2"/>
              <a:buChar char="v"/>
            </a:pPr>
            <a:r>
              <a:rPr lang="en-US" dirty="0"/>
              <a:t>Kaggle Dataset: </a:t>
            </a:r>
            <a:r>
              <a:rPr lang="en-US" i="1" dirty="0"/>
              <a:t>Vehicle Insurance Customer Response Prediction Dataset</a:t>
            </a:r>
            <a:endParaRPr lang="en-US" dirty="0"/>
          </a:p>
          <a:p>
            <a:pPr marL="285750" indent="-285750">
              <a:buFont typeface="Wingdings" panose="05000000000000000000" pitchFamily="2" charset="2"/>
              <a:buChar char="v"/>
            </a:pPr>
            <a:endParaRPr lang="en-US" dirty="0"/>
          </a:p>
          <a:p>
            <a:pPr marL="285750" indent="-285750">
              <a:buFont typeface="Wingdings" panose="05000000000000000000" pitchFamily="2" charset="2"/>
              <a:buChar char="v"/>
            </a:pPr>
            <a:r>
              <a:rPr lang="en-US" dirty="0"/>
              <a:t>Hanafy, M., &amp; Ming, R. (Year). </a:t>
            </a:r>
            <a:r>
              <a:rPr lang="en-US" i="1" dirty="0"/>
              <a:t>Machine Learning Approaches for Auto Insurance Big Data</a:t>
            </a:r>
            <a:endParaRPr lang="en-US" dirty="0"/>
          </a:p>
          <a:p>
            <a:pPr marL="285750" indent="-285750">
              <a:buFont typeface="Wingdings" panose="05000000000000000000" pitchFamily="2" charset="2"/>
              <a:buChar char="v"/>
            </a:pPr>
            <a:endParaRPr lang="en-US" dirty="0"/>
          </a:p>
          <a:p>
            <a:pPr marL="285750" indent="-285750">
              <a:buFont typeface="Wingdings" panose="05000000000000000000" pitchFamily="2" charset="2"/>
              <a:buChar char="v"/>
            </a:pPr>
            <a:r>
              <a:rPr lang="en-US" dirty="0"/>
              <a:t>Nyström, L., &amp; Witt, O. (Year). </a:t>
            </a:r>
            <a:r>
              <a:rPr lang="en-US" i="1" dirty="0"/>
              <a:t>Predicting Vehicle Insurance Premiums Using Linear Regression, </a:t>
            </a:r>
            <a:r>
              <a:rPr lang="en-US" i="1" dirty="0" err="1"/>
              <a:t>XGBoost</a:t>
            </a:r>
            <a:r>
              <a:rPr lang="en-US" i="1" dirty="0"/>
              <a:t>, and Neural Networks: A Comparative Study of Predictive Power</a:t>
            </a:r>
            <a:endParaRPr lang="en-US" dirty="0"/>
          </a:p>
          <a:p>
            <a:pPr marL="285750" indent="-285750">
              <a:buFont typeface="Wingdings" panose="05000000000000000000" pitchFamily="2" charset="2"/>
              <a:buChar char="v"/>
            </a:pPr>
            <a:endParaRPr lang="en-US" dirty="0"/>
          </a:p>
          <a:p>
            <a:pPr marL="285750" indent="-285750">
              <a:buFont typeface="Wingdings" panose="05000000000000000000" pitchFamily="2" charset="2"/>
              <a:buChar char="v"/>
            </a:pPr>
            <a:r>
              <a:rPr lang="en-US" dirty="0"/>
              <a:t>Rawat, S., Rawat, A., Kumar, D., &amp; Sabitha, A. S. (Year). </a:t>
            </a:r>
            <a:r>
              <a:rPr lang="en-US" i="1" dirty="0"/>
              <a:t>Application of machine learning and data visualization techniques for decision support in the insurance sector</a:t>
            </a:r>
            <a:endParaRPr lang="en-US" dirty="0"/>
          </a:p>
        </p:txBody>
      </p:sp>
    </p:spTree>
    <p:extLst>
      <p:ext uri="{BB962C8B-B14F-4D97-AF65-F5344CB8AC3E}">
        <p14:creationId xmlns:p14="http://schemas.microsoft.com/office/powerpoint/2010/main" val="42093220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79F11E2-8BA5-4C5C-AE7C-361E5EA011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C00E1DA-EC7C-40FC-95E3-11FDCD2E42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nvGrpSpPr>
          <p:cNvPr id="14" name="Group 13">
            <a:extLst>
              <a:ext uri="{FF2B5EF4-FFF2-40B4-BE49-F238E27FC236}">
                <a16:creationId xmlns:a16="http://schemas.microsoft.com/office/drawing/2014/main" id="{9A421166-2996-41A7-B094-AE5316F347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5" name="Rectangle 14">
              <a:extLst>
                <a:ext uri="{FF2B5EF4-FFF2-40B4-BE49-F238E27FC236}">
                  <a16:creationId xmlns:a16="http://schemas.microsoft.com/office/drawing/2014/main" id="{FDBB1B92-A3EB-43E4-8FAB-D20E8ED14C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15">
              <a:extLst>
                <a:ext uri="{FF2B5EF4-FFF2-40B4-BE49-F238E27FC236}">
                  <a16:creationId xmlns:a16="http://schemas.microsoft.com/office/drawing/2014/main" id="{3F3972F4-FE7E-48EA-AAD8-9BE5750A66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16">
              <a:extLst>
                <a:ext uri="{FF2B5EF4-FFF2-40B4-BE49-F238E27FC236}">
                  <a16:creationId xmlns:a16="http://schemas.microsoft.com/office/drawing/2014/main" id="{221614E5-870B-4D5E-A43B-8FF7E53234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a:extLst>
              <a:ext uri="{FF2B5EF4-FFF2-40B4-BE49-F238E27FC236}">
                <a16:creationId xmlns:a16="http://schemas.microsoft.com/office/drawing/2014/main" id="{0F87E73C-2B1A-4602-BFBE-CFE1E55D9B38}"/>
              </a:ext>
            </a:extLst>
          </p:cNvPr>
          <p:cNvSpPr>
            <a:spLocks noGrp="1"/>
          </p:cNvSpPr>
          <p:nvPr>
            <p:ph type="ctrTitle"/>
          </p:nvPr>
        </p:nvSpPr>
        <p:spPr>
          <a:xfrm>
            <a:off x="8296275" y="1419226"/>
            <a:ext cx="3081576" cy="1746762"/>
          </a:xfrm>
        </p:spPr>
        <p:txBody>
          <a:bodyPr>
            <a:normAutofit/>
          </a:bodyPr>
          <a:lstStyle/>
          <a:p>
            <a:r>
              <a:rPr lang="en-US" dirty="0">
                <a:solidFill>
                  <a:srgbClr val="FFFFFF"/>
                </a:solidFill>
              </a:rPr>
              <a:t>Thank You</a:t>
            </a:r>
          </a:p>
        </p:txBody>
      </p:sp>
      <p:sp>
        <p:nvSpPr>
          <p:cNvPr id="3" name="Subtitle 2">
            <a:extLst>
              <a:ext uri="{FF2B5EF4-FFF2-40B4-BE49-F238E27FC236}">
                <a16:creationId xmlns:a16="http://schemas.microsoft.com/office/drawing/2014/main" id="{A9CB511D-EA45-4336-847C-1252667143B5}"/>
              </a:ext>
            </a:extLst>
          </p:cNvPr>
          <p:cNvSpPr>
            <a:spLocks noGrp="1"/>
          </p:cNvSpPr>
          <p:nvPr>
            <p:ph type="subTitle" idx="1"/>
          </p:nvPr>
        </p:nvSpPr>
        <p:spPr>
          <a:xfrm>
            <a:off x="8042146" y="3505094"/>
            <a:ext cx="3703319" cy="1746761"/>
          </a:xfrm>
        </p:spPr>
        <p:txBody>
          <a:bodyPr>
            <a:normAutofit/>
          </a:bodyPr>
          <a:lstStyle/>
          <a:p>
            <a:r>
              <a:rPr lang="en-US" sz="2800" dirty="0">
                <a:solidFill>
                  <a:srgbClr val="FB9205"/>
                </a:solidFill>
                <a:latin typeface="Alfa Slab One" panose="02000507050000020004" pitchFamily="2" charset="0"/>
              </a:rPr>
              <a:t>SIMBARASHE 	</a:t>
            </a:r>
            <a:r>
              <a:rPr lang="en-US" sz="2800" dirty="0" err="1">
                <a:solidFill>
                  <a:srgbClr val="FB9205"/>
                </a:solidFill>
                <a:latin typeface="Alfa Slab One" panose="02000507050000020004" pitchFamily="2" charset="0"/>
              </a:rPr>
              <a:t>NGONYAmA</a:t>
            </a:r>
            <a:endParaRPr lang="en-US" sz="2800" dirty="0">
              <a:solidFill>
                <a:srgbClr val="FB9205"/>
              </a:solidFill>
              <a:latin typeface="Alfa Slab One" panose="02000507050000020004" pitchFamily="2" charset="0"/>
            </a:endParaRPr>
          </a:p>
          <a:p>
            <a:endParaRPr lang="en-US" dirty="0">
              <a:solidFill>
                <a:schemeClr val="bg2"/>
              </a:solidFill>
            </a:endParaRPr>
          </a:p>
          <a:p>
            <a:endParaRPr lang="en-US" dirty="0">
              <a:solidFill>
                <a:schemeClr val="bg2"/>
              </a:solidFill>
            </a:endParaRPr>
          </a:p>
        </p:txBody>
      </p:sp>
      <p:pic>
        <p:nvPicPr>
          <p:cNvPr id="5" name="Picture 4" descr="Digital Numbers">
            <a:extLst>
              <a:ext uri="{FF2B5EF4-FFF2-40B4-BE49-F238E27FC236}">
                <a16:creationId xmlns:a16="http://schemas.microsoft.com/office/drawing/2014/main" id="{A21EA617-6D48-425F-97A8-7FEC82C8F40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2189" r="9642" b="1"/>
          <a:stretch/>
        </p:blipFill>
        <p:spPr>
          <a:xfrm>
            <a:off x="446534" y="723899"/>
            <a:ext cx="7498616" cy="5676901"/>
          </a:xfrm>
          <a:prstGeom prst="rect">
            <a:avLst/>
          </a:prstGeom>
        </p:spPr>
      </p:pic>
    </p:spTree>
    <p:extLst>
      <p:ext uri="{BB962C8B-B14F-4D97-AF65-F5344CB8AC3E}">
        <p14:creationId xmlns:p14="http://schemas.microsoft.com/office/powerpoint/2010/main" val="35013474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7F5C9-3861-DF6F-7042-9177CEBD7D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7ED85B-7E13-4DFE-EB6E-1B5191FAE350}"/>
              </a:ext>
            </a:extLst>
          </p:cNvPr>
          <p:cNvSpPr>
            <a:spLocks noGrp="1"/>
          </p:cNvSpPr>
          <p:nvPr>
            <p:ph type="title"/>
          </p:nvPr>
        </p:nvSpPr>
        <p:spPr>
          <a:xfrm>
            <a:off x="581193" y="729658"/>
            <a:ext cx="11029616" cy="988332"/>
          </a:xfrm>
        </p:spPr>
        <p:txBody>
          <a:bodyPr anchor="b">
            <a:normAutofit fontScale="90000"/>
          </a:bodyPr>
          <a:lstStyle/>
          <a:p>
            <a:r>
              <a:rPr lang="en-US" b="1" dirty="0">
                <a:latin typeface="Calibri" panose="020F0502020204030204" pitchFamily="34" charset="0"/>
                <a:ea typeface="Calibri" panose="020F0502020204030204" pitchFamily="34" charset="0"/>
                <a:cs typeface="Calibri" panose="020F0502020204030204" pitchFamily="34" charset="0"/>
              </a:rPr>
              <a:t>Research methodology </a:t>
            </a:r>
            <a:br>
              <a:rPr lang="en-US" b="1" dirty="0">
                <a:latin typeface="Calibri" panose="020F0502020204030204" pitchFamily="34" charset="0"/>
                <a:ea typeface="Calibri" panose="020F0502020204030204" pitchFamily="34" charset="0"/>
                <a:cs typeface="Calibri" panose="020F0502020204030204" pitchFamily="34" charset="0"/>
              </a:rPr>
            </a:br>
            <a:r>
              <a:rPr lang="en-US" b="1" dirty="0">
                <a:solidFill>
                  <a:srgbClr val="FB9205"/>
                </a:solidFill>
                <a:latin typeface="Calibri" panose="020F0502020204030204" pitchFamily="34" charset="0"/>
                <a:ea typeface="Calibri" panose="020F0502020204030204" pitchFamily="34" charset="0"/>
                <a:cs typeface="Calibri" panose="020F0502020204030204" pitchFamily="34" charset="0"/>
              </a:rPr>
              <a:t>Exploratory Data analysis</a:t>
            </a:r>
            <a:br>
              <a:rPr lang="en-US" b="1" dirty="0">
                <a:solidFill>
                  <a:srgbClr val="FB9205"/>
                </a:solidFill>
                <a:latin typeface="Calibri" panose="020F0502020204030204" pitchFamily="34" charset="0"/>
                <a:ea typeface="Calibri" panose="020F0502020204030204" pitchFamily="34" charset="0"/>
                <a:cs typeface="Calibri" panose="020F0502020204030204" pitchFamily="34" charset="0"/>
              </a:rPr>
            </a:br>
            <a:endParaRPr lang="en-US" sz="1600" dirty="0"/>
          </a:p>
        </p:txBody>
      </p:sp>
      <p:sp>
        <p:nvSpPr>
          <p:cNvPr id="4" name="TextBox 3">
            <a:extLst>
              <a:ext uri="{FF2B5EF4-FFF2-40B4-BE49-F238E27FC236}">
                <a16:creationId xmlns:a16="http://schemas.microsoft.com/office/drawing/2014/main" id="{3565FD2C-9A4E-7BB9-44D3-AE23DB5A2B27}"/>
              </a:ext>
            </a:extLst>
          </p:cNvPr>
          <p:cNvSpPr txBox="1"/>
          <p:nvPr/>
        </p:nvSpPr>
        <p:spPr>
          <a:xfrm>
            <a:off x="1622522" y="1931940"/>
            <a:ext cx="11700933" cy="369332"/>
          </a:xfrm>
          <a:prstGeom prst="rect">
            <a:avLst/>
          </a:prstGeom>
          <a:noFill/>
        </p:spPr>
        <p:txBody>
          <a:bodyPr wrap="square" rtlCol="0">
            <a:spAutoFit/>
          </a:bodyPr>
          <a:lstStyle/>
          <a:p>
            <a:r>
              <a:rPr lang="en-US" b="1" dirty="0"/>
              <a:t>Boxplots showing relationship between target outcome and quantitative features</a:t>
            </a:r>
          </a:p>
        </p:txBody>
      </p:sp>
      <p:pic>
        <p:nvPicPr>
          <p:cNvPr id="5" name="Picture 4">
            <a:extLst>
              <a:ext uri="{FF2B5EF4-FFF2-40B4-BE49-F238E27FC236}">
                <a16:creationId xmlns:a16="http://schemas.microsoft.com/office/drawing/2014/main" id="{277D7B79-D008-B92E-C3B8-F3E95D84C631}"/>
              </a:ext>
            </a:extLst>
          </p:cNvPr>
          <p:cNvPicPr>
            <a:picLocks noChangeAspect="1"/>
          </p:cNvPicPr>
          <p:nvPr/>
        </p:nvPicPr>
        <p:blipFill>
          <a:blip r:embed="rId3"/>
          <a:stretch>
            <a:fillRect/>
          </a:stretch>
        </p:blipFill>
        <p:spPr>
          <a:xfrm>
            <a:off x="581193" y="2436019"/>
            <a:ext cx="5246952" cy="3987063"/>
          </a:xfrm>
          <a:prstGeom prst="rect">
            <a:avLst/>
          </a:prstGeom>
        </p:spPr>
      </p:pic>
      <p:pic>
        <p:nvPicPr>
          <p:cNvPr id="8" name="Picture 7">
            <a:extLst>
              <a:ext uri="{FF2B5EF4-FFF2-40B4-BE49-F238E27FC236}">
                <a16:creationId xmlns:a16="http://schemas.microsoft.com/office/drawing/2014/main" id="{018CE5EC-E187-CC84-59DA-7656F9E55C7A}"/>
              </a:ext>
            </a:extLst>
          </p:cNvPr>
          <p:cNvPicPr>
            <a:picLocks noChangeAspect="1"/>
          </p:cNvPicPr>
          <p:nvPr/>
        </p:nvPicPr>
        <p:blipFill>
          <a:blip r:embed="rId4"/>
          <a:stretch>
            <a:fillRect/>
          </a:stretch>
        </p:blipFill>
        <p:spPr>
          <a:xfrm>
            <a:off x="5735782" y="2301272"/>
            <a:ext cx="5608297" cy="4204024"/>
          </a:xfrm>
          <a:prstGeom prst="rect">
            <a:avLst/>
          </a:prstGeom>
        </p:spPr>
      </p:pic>
    </p:spTree>
    <p:extLst>
      <p:ext uri="{BB962C8B-B14F-4D97-AF65-F5344CB8AC3E}">
        <p14:creationId xmlns:p14="http://schemas.microsoft.com/office/powerpoint/2010/main" val="32473327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1A7C9C-9926-B5D9-945C-4A319008B1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6B1BEB-4664-F869-75EC-530063853A2E}"/>
              </a:ext>
            </a:extLst>
          </p:cNvPr>
          <p:cNvSpPr>
            <a:spLocks noGrp="1"/>
          </p:cNvSpPr>
          <p:nvPr>
            <p:ph type="title"/>
          </p:nvPr>
        </p:nvSpPr>
        <p:spPr>
          <a:xfrm>
            <a:off x="581193" y="729658"/>
            <a:ext cx="11029616" cy="988332"/>
          </a:xfrm>
        </p:spPr>
        <p:txBody>
          <a:bodyPr anchor="b">
            <a:normAutofit fontScale="90000"/>
          </a:bodyPr>
          <a:lstStyle/>
          <a:p>
            <a:r>
              <a:rPr lang="en-US" b="1" dirty="0">
                <a:latin typeface="Calibri" panose="020F0502020204030204" pitchFamily="34" charset="0"/>
                <a:ea typeface="Calibri" panose="020F0502020204030204" pitchFamily="34" charset="0"/>
                <a:cs typeface="Calibri" panose="020F0502020204030204" pitchFamily="34" charset="0"/>
              </a:rPr>
              <a:t>Research methodology </a:t>
            </a:r>
            <a:br>
              <a:rPr lang="en-US" b="1" dirty="0">
                <a:latin typeface="Calibri" panose="020F0502020204030204" pitchFamily="34" charset="0"/>
                <a:ea typeface="Calibri" panose="020F0502020204030204" pitchFamily="34" charset="0"/>
                <a:cs typeface="Calibri" panose="020F0502020204030204" pitchFamily="34" charset="0"/>
              </a:rPr>
            </a:br>
            <a:r>
              <a:rPr lang="en-US" b="1" dirty="0">
                <a:solidFill>
                  <a:srgbClr val="FB9205"/>
                </a:solidFill>
                <a:latin typeface="Calibri" panose="020F0502020204030204" pitchFamily="34" charset="0"/>
                <a:ea typeface="Calibri" panose="020F0502020204030204" pitchFamily="34" charset="0"/>
                <a:cs typeface="Calibri" panose="020F0502020204030204" pitchFamily="34" charset="0"/>
              </a:rPr>
              <a:t>Exploratory Data analysis</a:t>
            </a:r>
            <a:br>
              <a:rPr lang="en-US" b="1" dirty="0">
                <a:solidFill>
                  <a:srgbClr val="FB9205"/>
                </a:solidFill>
                <a:latin typeface="Calibri" panose="020F0502020204030204" pitchFamily="34" charset="0"/>
                <a:ea typeface="Calibri" panose="020F0502020204030204" pitchFamily="34" charset="0"/>
                <a:cs typeface="Calibri" panose="020F0502020204030204" pitchFamily="34" charset="0"/>
              </a:rPr>
            </a:br>
            <a:endParaRPr lang="en-US" sz="1600" dirty="0"/>
          </a:p>
        </p:txBody>
      </p:sp>
      <p:pic>
        <p:nvPicPr>
          <p:cNvPr id="6" name="Picture 5">
            <a:extLst>
              <a:ext uri="{FF2B5EF4-FFF2-40B4-BE49-F238E27FC236}">
                <a16:creationId xmlns:a16="http://schemas.microsoft.com/office/drawing/2014/main" id="{ED3C135E-BF2C-3850-5C0B-6A229815C902}"/>
              </a:ext>
            </a:extLst>
          </p:cNvPr>
          <p:cNvPicPr>
            <a:picLocks noChangeAspect="1"/>
          </p:cNvPicPr>
          <p:nvPr/>
        </p:nvPicPr>
        <p:blipFill>
          <a:blip r:embed="rId3"/>
          <a:stretch>
            <a:fillRect/>
          </a:stretch>
        </p:blipFill>
        <p:spPr>
          <a:xfrm>
            <a:off x="856677" y="2515222"/>
            <a:ext cx="5380041" cy="4018928"/>
          </a:xfrm>
          <a:prstGeom prst="rect">
            <a:avLst/>
          </a:prstGeom>
        </p:spPr>
      </p:pic>
      <p:sp>
        <p:nvSpPr>
          <p:cNvPr id="10" name="TextBox 9">
            <a:extLst>
              <a:ext uri="{FF2B5EF4-FFF2-40B4-BE49-F238E27FC236}">
                <a16:creationId xmlns:a16="http://schemas.microsoft.com/office/drawing/2014/main" id="{EA9E0BA3-16D8-CEA5-7E2A-C89F9E398F9B}"/>
              </a:ext>
            </a:extLst>
          </p:cNvPr>
          <p:cNvSpPr txBox="1"/>
          <p:nvPr/>
        </p:nvSpPr>
        <p:spPr>
          <a:xfrm>
            <a:off x="6354618" y="3038763"/>
            <a:ext cx="5634181" cy="1477328"/>
          </a:xfrm>
          <a:prstGeom prst="rect">
            <a:avLst/>
          </a:prstGeom>
          <a:noFill/>
        </p:spPr>
        <p:txBody>
          <a:bodyPr wrap="square" rtlCol="0">
            <a:spAutoFit/>
          </a:bodyPr>
          <a:lstStyle/>
          <a:p>
            <a:r>
              <a:rPr lang="en-US" b="1" dirty="0"/>
              <a:t>Interest Rates</a:t>
            </a:r>
          </a:p>
          <a:p>
            <a:endParaRPr lang="en-US" dirty="0"/>
          </a:p>
          <a:p>
            <a:pPr marL="285750" indent="-285750">
              <a:buFont typeface="Arial" panose="020B0604020202020204" pitchFamily="34" charset="0"/>
              <a:buChar char="•"/>
            </a:pPr>
            <a:r>
              <a:rPr lang="en-US" dirty="0"/>
              <a:t>Female = 18185 / (18185+156835) = 10.39%</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Male = 28525 / (28525+177564) = 13.84%</a:t>
            </a:r>
          </a:p>
        </p:txBody>
      </p:sp>
    </p:spTree>
    <p:extLst>
      <p:ext uri="{BB962C8B-B14F-4D97-AF65-F5344CB8AC3E}">
        <p14:creationId xmlns:p14="http://schemas.microsoft.com/office/powerpoint/2010/main" val="37669047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FF0CC-7E8E-76E2-63D7-92E6205B26CF}"/>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9AD9E6C4-25B5-6B32-1A6D-9AA04AEC0F76}"/>
              </a:ext>
            </a:extLst>
          </p:cNvPr>
          <p:cNvSpPr>
            <a:spLocks noGrp="1"/>
          </p:cNvSpPr>
          <p:nvPr>
            <p:ph type="title"/>
          </p:nvPr>
        </p:nvSpPr>
        <p:spPr>
          <a:xfrm>
            <a:off x="581192" y="702156"/>
            <a:ext cx="11029616" cy="1013800"/>
          </a:xfrm>
        </p:spPr>
        <p:txBody>
          <a:bodyPr anchor="b">
            <a:normAutofit/>
          </a:bodyPr>
          <a:lstStyle/>
          <a:p>
            <a:r>
              <a:rPr lang="en-US" b="1"/>
              <a:t>RESEARCH RESULTS</a:t>
            </a:r>
            <a:br>
              <a:rPr lang="en-US" b="1"/>
            </a:br>
            <a:endParaRPr lang="en-US" dirty="0"/>
          </a:p>
        </p:txBody>
      </p:sp>
      <p:pic>
        <p:nvPicPr>
          <p:cNvPr id="2" name="Picture 1">
            <a:extLst>
              <a:ext uri="{FF2B5EF4-FFF2-40B4-BE49-F238E27FC236}">
                <a16:creationId xmlns:a16="http://schemas.microsoft.com/office/drawing/2014/main" id="{C0B115D9-0446-8639-2CDF-3ED21B1BF176}"/>
              </a:ext>
            </a:extLst>
          </p:cNvPr>
          <p:cNvPicPr>
            <a:picLocks noChangeAspect="1"/>
          </p:cNvPicPr>
          <p:nvPr/>
        </p:nvPicPr>
        <p:blipFill>
          <a:blip r:embed="rId3"/>
          <a:stretch>
            <a:fillRect/>
          </a:stretch>
        </p:blipFill>
        <p:spPr>
          <a:xfrm>
            <a:off x="2133600" y="1799960"/>
            <a:ext cx="7581900" cy="4791340"/>
          </a:xfrm>
          <a:prstGeom prst="rect">
            <a:avLst/>
          </a:prstGeom>
        </p:spPr>
      </p:pic>
    </p:spTree>
    <p:extLst>
      <p:ext uri="{BB962C8B-B14F-4D97-AF65-F5344CB8AC3E}">
        <p14:creationId xmlns:p14="http://schemas.microsoft.com/office/powerpoint/2010/main" val="898229774"/>
      </p:ext>
    </p:extLst>
  </p:cSld>
  <p:clrMapOvr>
    <a:masterClrMapping/>
  </p:clrMapOvr>
</p:sld>
</file>

<file path=ppt/theme/theme1.xml><?xml version="1.0" encoding="utf-8"?>
<a:theme xmlns:a="http://schemas.openxmlformats.org/drawingml/2006/main" name="Custom">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tf56390039_win32_fixed.potx" id="{08D75CB0-AD9B-4834-8559-901094BB0ABE}" vid="{3B3EDB20-B381-4B6C-99AC-7C5CDA2B40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791575F-4C21-47C4-8D13-EB9BE66B536F}">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342D3C2F-55A5-48C0-9D5A-95C7FF0389D0}">
  <ds:schemaRefs>
    <ds:schemaRef ds:uri="http://schemas.microsoft.com/sharepoint/v3/contenttype/forms"/>
  </ds:schemaRefs>
</ds:datastoreItem>
</file>

<file path=customXml/itemProps3.xml><?xml version="1.0" encoding="utf-8"?>
<ds:datastoreItem xmlns:ds="http://schemas.openxmlformats.org/officeDocument/2006/customXml" ds:itemID="{792209EB-3212-4116-B574-D1F56C7C492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Tech design</Template>
  <TotalTime>3392</TotalTime>
  <Words>1451</Words>
  <Application>Microsoft Office PowerPoint</Application>
  <PresentationFormat>Widescreen</PresentationFormat>
  <Paragraphs>241</Paragraphs>
  <Slides>28</Slides>
  <Notes>24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28</vt:i4>
      </vt:variant>
    </vt:vector>
  </HeadingPairs>
  <TitlesOfParts>
    <vt:vector size="37" baseType="lpstr">
      <vt:lpstr>Abadi</vt:lpstr>
      <vt:lpstr>Alfa Slab One</vt:lpstr>
      <vt:lpstr>Arial</vt:lpstr>
      <vt:lpstr>Calibri</vt:lpstr>
      <vt:lpstr>Cambria Math</vt:lpstr>
      <vt:lpstr>Gill Sans MT</vt:lpstr>
      <vt:lpstr>Wingdings</vt:lpstr>
      <vt:lpstr>Wingdings 2</vt:lpstr>
      <vt:lpstr>Custom</vt:lpstr>
      <vt:lpstr>AI IN INSURANCE INDUSTRY</vt:lpstr>
      <vt:lpstr>PowerPoint Presentation</vt:lpstr>
      <vt:lpstr>PowerPoint Presentation</vt:lpstr>
      <vt:lpstr>INTRODUCTION</vt:lpstr>
      <vt:lpstr>Objective of the study</vt:lpstr>
      <vt:lpstr>Data description </vt:lpstr>
      <vt:lpstr>PowerPoint Presentation</vt:lpstr>
      <vt:lpstr>Research methodology </vt:lpstr>
      <vt:lpstr>Research methodology  Exploratory Data analysis </vt:lpstr>
      <vt:lpstr>Research methodology  Exploratory Data analysis </vt:lpstr>
      <vt:lpstr>Research methodology  Exploratory Data analysis </vt:lpstr>
      <vt:lpstr>Research methodology  Exploratory Data analysis </vt:lpstr>
      <vt:lpstr>Research methodology  Exploratory Data analysis </vt:lpstr>
      <vt:lpstr>RESEARCH RESULTS Evaluation Metrics (Prediction Performance)</vt:lpstr>
      <vt:lpstr>RESEARCH RESULTS </vt:lpstr>
      <vt:lpstr>RESEARCH RESULTS </vt:lpstr>
      <vt:lpstr>RESEARCH RESULTS </vt:lpstr>
      <vt:lpstr>RESEARCH RESULTS Variable Importance for Logistic Regression Model</vt:lpstr>
      <vt:lpstr>RESEARCH RESULTS Variable Importance for Probit Regression Model</vt:lpstr>
      <vt:lpstr>RESEARCH RESULTS Variable Importance for Random Forest Model</vt:lpstr>
      <vt:lpstr>RESEARCH RESULTS Variable Importance for XGBOOST Model</vt:lpstr>
      <vt:lpstr>conclusion</vt:lpstr>
      <vt:lpstr>Limitations</vt:lpstr>
      <vt:lpstr>References</vt:lpstr>
      <vt:lpstr>Thank You</vt:lpstr>
      <vt:lpstr>Research methodology  Exploratory Data analysis </vt:lpstr>
      <vt:lpstr>Research methodology  Exploratory Data analysis </vt:lpstr>
      <vt:lpstr>RESEARCH RESULTS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SIMBARASHE T NGONYAMO</dc:creator>
  <cp:lastModifiedBy>SIMBARASHE T NGONYAMO</cp:lastModifiedBy>
  <cp:revision>17</cp:revision>
  <dcterms:created xsi:type="dcterms:W3CDTF">2026-03-15T00:28:45Z</dcterms:created>
  <dcterms:modified xsi:type="dcterms:W3CDTF">2026-04-14T03:54:02Z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